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6858000" cx="12192000"/>
  <p:notesSz cx="6858000" cy="9144000"/>
  <p:embeddedFontLst>
    <p:embeddedFont>
      <p:font typeface="Play"/>
      <p:regular r:id="rId35"/>
      <p:bold r:id="rId36"/>
    </p:embeddedFont>
    <p:embeddedFont>
      <p:font typeface="Roboto Mon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1" roundtripDataSignature="AMtx7mh09+y/dZyFEobAkV08TaZbVKNe3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RobotoMono-boldItalic.fntdata"/><Relationship Id="rId20" Type="http://schemas.openxmlformats.org/officeDocument/2006/relationships/slide" Target="slides/slide16.xml"/><Relationship Id="rId41" Type="http://customschemas.google.com/relationships/presentationmetadata" Target="meta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Play-regular.fntdata"/><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font" Target="fonts/RobotoMono-regular.fntdata"/><Relationship Id="rId14" Type="http://schemas.openxmlformats.org/officeDocument/2006/relationships/slide" Target="slides/slide10.xml"/><Relationship Id="rId36" Type="http://schemas.openxmlformats.org/officeDocument/2006/relationships/font" Target="fonts/Play-bold.fntdata"/><Relationship Id="rId17" Type="http://schemas.openxmlformats.org/officeDocument/2006/relationships/slide" Target="slides/slide13.xml"/><Relationship Id="rId39" Type="http://schemas.openxmlformats.org/officeDocument/2006/relationships/font" Target="fonts/RobotoMono-italic.fntdata"/><Relationship Id="rId16" Type="http://schemas.openxmlformats.org/officeDocument/2006/relationships/slide" Target="slides/slide12.xml"/><Relationship Id="rId38" Type="http://schemas.openxmlformats.org/officeDocument/2006/relationships/font" Target="fonts/RobotoMono-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 name="Google Shape;26;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27" name="Google Shape;27;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 name="Google Shape;4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45" name="Google Shape;45;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57" name="Google Shape;5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 name="Google Shape;6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69" name="Google Shape;69;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83" name="Google Shape;83;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 name="Google Shape;9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97" name="Google Shape;97;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111" name="Google Shape;111;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125" name="Google Shape;125;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 name="Google Shape;138;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139" name="Google Shape;139;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 name="Google Shape;152;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153" name="Google Shape;153;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167" name="Google Shape;167;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183" name="Google Shape;183;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195" name="Google Shape;195;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216" name="Google Shape;216;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227" name="Google Shape;227;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6" name="Google Shape;236;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237" name="Google Shape;237;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6" name="Google Shape;246;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247" name="Google Shape;247;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262" name="Google Shape;262;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2" name="Google Shape;272;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273" name="Google Shape;273;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4" name="Google Shape;284;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285" name="Google Shape;285;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7" name="Google Shape;307;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308" name="Google Shape;308;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2" name="Google Shape;332;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333" name="Google Shape;333;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1" name="Google Shape;361;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362" name="Google Shape;362;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0" name="Google Shape;410;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411" name="Google Shape;411;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0" name="Google Shape;440;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441" name="Google Shape;441;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e53c7b4ed2_0_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2" name="Google Shape;482;g3e53c7b4ed2_0_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483" name="Google Shape;483;g3e53c7b4ed2_0_4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6" name="Google Shape;496;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497" name="Google Shape;497;p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5" name="Google Shape;525;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p>
        </p:txBody>
      </p:sp>
      <p:sp>
        <p:nvSpPr>
          <p:cNvPr id="526" name="Google Shape;526;p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31: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7" name="Google Shape;537;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3.jpg"/><Relationship Id="rId4" Type="http://schemas.openxmlformats.org/officeDocument/2006/relationships/image" Target="../media/image1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sp>
        <p:nvSpPr>
          <p:cNvPr id="16" name="Google Shape;16;p1"/>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102D3A"/>
              </a:solidFill>
              <a:latin typeface="Arial"/>
              <a:ea typeface="Arial"/>
              <a:cs typeface="Arial"/>
              <a:sym typeface="Arial"/>
            </a:endParaRPr>
          </a:p>
        </p:txBody>
      </p:sp>
      <p:sp>
        <p:nvSpPr>
          <p:cNvPr id="17" name="Google Shape;17;p1"/>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
          <p:cNvSpPr/>
          <p:nvPr/>
        </p:nvSpPr>
        <p:spPr>
          <a:xfrm>
            <a:off x="552450" y="6438900"/>
            <a:ext cx="11087100" cy="9525"/>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
          <p:cNvSpPr/>
          <p:nvPr/>
        </p:nvSpPr>
        <p:spPr>
          <a:xfrm>
            <a:off x="552450" y="1769110"/>
            <a:ext cx="10331450" cy="177482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Arial"/>
                <a:ea typeface="Arial"/>
                <a:cs typeface="Arial"/>
                <a:sym typeface="Arial"/>
              </a:rPr>
              <a:t>Advance Artificial Intelligence</a:t>
            </a:r>
            <a:r>
              <a:rPr b="0" i="0" lang="en-US" sz="3600" u="none" cap="none" strike="noStrike">
                <a:solidFill>
                  <a:srgbClr val="FF0000"/>
                </a:solidFill>
                <a:latin typeface="Arial"/>
                <a:ea typeface="Arial"/>
                <a:cs typeface="Arial"/>
                <a:sym typeface="Arial"/>
              </a:rPr>
              <a:t> </a:t>
            </a:r>
            <a:r>
              <a:rPr b="0" i="0" lang="en-US" sz="3600" u="none" cap="none" strike="noStrike">
                <a:solidFill>
                  <a:srgbClr val="000000"/>
                </a:solidFill>
                <a:latin typeface="Arial"/>
                <a:ea typeface="Arial"/>
                <a:cs typeface="Arial"/>
                <a:sym typeface="Arial"/>
              </a:rPr>
              <a:t>: </a:t>
            </a:r>
            <a:r>
              <a:rPr b="0" i="0" lang="en-US" sz="3600" u="none" cap="none" strike="noStrike">
                <a:solidFill>
                  <a:schemeClr val="accent2"/>
                </a:solidFill>
                <a:latin typeface="Arial"/>
                <a:ea typeface="Arial"/>
                <a:cs typeface="Arial"/>
                <a:sym typeface="Arial"/>
              </a:rPr>
              <a:t>Developing An  </a:t>
            </a:r>
            <a:endParaRPr b="0" i="0" sz="3600" u="none" cap="none" strike="noStrike">
              <a:solidFill>
                <a:schemeClr val="accent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accent2"/>
                </a:solidFill>
                <a:latin typeface="Arial"/>
                <a:ea typeface="Arial"/>
                <a:cs typeface="Arial"/>
                <a:sym typeface="Arial"/>
              </a:rPr>
              <a:t>Intelligent Chatbot System</a:t>
            </a:r>
            <a:endParaRPr b="1" i="0" sz="3600" u="none" cap="none" strike="noStrike">
              <a:solidFill>
                <a:srgbClr val="087E83"/>
              </a:solidFill>
              <a:latin typeface="Play"/>
              <a:ea typeface="Play"/>
              <a:cs typeface="Play"/>
              <a:sym typeface="Play"/>
            </a:endParaRPr>
          </a:p>
        </p:txBody>
      </p:sp>
      <p:sp>
        <p:nvSpPr>
          <p:cNvPr id="20" name="Google Shape;20;p1"/>
          <p:cNvSpPr/>
          <p:nvPr/>
        </p:nvSpPr>
        <p:spPr>
          <a:xfrm>
            <a:off x="552450" y="2208600"/>
            <a:ext cx="5883000" cy="7431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125"/>
              <a:buFont typeface="Arial"/>
              <a:buNone/>
            </a:pPr>
            <a:r>
              <a:t/>
            </a:r>
            <a:endParaRPr b="1" i="0" sz="4125" u="none" cap="none" strike="noStrike">
              <a:solidFill>
                <a:srgbClr val="102D3A"/>
              </a:solidFill>
              <a:latin typeface="Play"/>
              <a:ea typeface="Play"/>
              <a:cs typeface="Play"/>
              <a:sym typeface="Play"/>
            </a:endParaRPr>
          </a:p>
        </p:txBody>
      </p:sp>
      <p:sp>
        <p:nvSpPr>
          <p:cNvPr id="21" name="Google Shape;21;p1"/>
          <p:cNvSpPr/>
          <p:nvPr/>
        </p:nvSpPr>
        <p:spPr>
          <a:xfrm>
            <a:off x="623470" y="4868975"/>
            <a:ext cx="5429400" cy="247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t/>
            </a:r>
            <a:endParaRPr b="1" i="0" sz="1275" u="none" cap="none" strike="noStrike">
              <a:solidFill>
                <a:srgbClr val="102D3A"/>
              </a:solidFill>
              <a:latin typeface="Arial"/>
              <a:ea typeface="Arial"/>
              <a:cs typeface="Arial"/>
              <a:sym typeface="Arial"/>
            </a:endParaRPr>
          </a:p>
        </p:txBody>
      </p:sp>
      <p:sp>
        <p:nvSpPr>
          <p:cNvPr id="22" name="Google Shape;22;p1"/>
          <p:cNvSpPr txBox="1"/>
          <p:nvPr/>
        </p:nvSpPr>
        <p:spPr>
          <a:xfrm>
            <a:off x="467995" y="4605655"/>
            <a:ext cx="4994910" cy="184277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600" u="none" cap="none" strike="noStrike">
                <a:solidFill>
                  <a:schemeClr val="dk2"/>
                </a:solidFill>
                <a:latin typeface="Arial"/>
                <a:ea typeface="Arial"/>
                <a:cs typeface="Arial"/>
                <a:sym typeface="Arial"/>
              </a:rPr>
              <a:t>Module     :     CMP-7059B</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chemeClr val="dk2"/>
                </a:solidFill>
                <a:latin typeface="Arial"/>
                <a:ea typeface="Arial"/>
                <a:cs typeface="Arial"/>
                <a:sym typeface="Arial"/>
              </a:rPr>
              <a:t>Group       :     PG_04</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chemeClr val="dk2"/>
                </a:solidFill>
                <a:latin typeface="Arial"/>
                <a:ea typeface="Arial"/>
                <a:cs typeface="Arial"/>
                <a:sym typeface="Arial"/>
              </a:rPr>
              <a:t>Members  :     Rajvi Panchal(100536007)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chemeClr val="dk2"/>
                </a:solidFill>
                <a:latin typeface="Arial"/>
                <a:ea typeface="Arial"/>
                <a:cs typeface="Arial"/>
                <a:sym typeface="Arial"/>
              </a:rPr>
              <a:t>                       Bibisha Bishwokarma(100536874)</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chemeClr val="dk2"/>
                </a:solidFill>
                <a:latin typeface="Arial"/>
                <a:ea typeface="Arial"/>
                <a:cs typeface="Arial"/>
                <a:sym typeface="Arial"/>
              </a:rPr>
              <a:t>                       Harshini Pothireddy(100530769)</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p:txBody>
      </p:sp>
      <p:pic>
        <p:nvPicPr>
          <p:cNvPr descr="images" id="23" name="Google Shape;23;p1"/>
          <p:cNvPicPr preferRelativeResize="0"/>
          <p:nvPr/>
        </p:nvPicPr>
        <p:blipFill rotWithShape="1">
          <a:blip r:embed="rId3">
            <a:alphaModFix/>
          </a:blip>
          <a:srcRect b="0" l="0" r="0" t="0"/>
          <a:stretch/>
        </p:blipFill>
        <p:spPr>
          <a:xfrm>
            <a:off x="7392035" y="2637155"/>
            <a:ext cx="2212340" cy="208724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 name="Shape 28"/>
        <p:cNvGrpSpPr/>
        <p:nvPr/>
      </p:nvGrpSpPr>
      <p:grpSpPr>
        <a:xfrm>
          <a:off x="0" y="0"/>
          <a:ext cx="0" cy="0"/>
          <a:chOff x="0" y="0"/>
          <a:chExt cx="0" cy="0"/>
        </a:xfrm>
      </p:grpSpPr>
      <p:sp>
        <p:nvSpPr>
          <p:cNvPr id="29" name="Google Shape;29;p2"/>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102D3A"/>
              </a:solidFill>
              <a:latin typeface="Arial"/>
              <a:ea typeface="Arial"/>
              <a:cs typeface="Arial"/>
              <a:sym typeface="Arial"/>
            </a:endParaRPr>
          </a:p>
        </p:txBody>
      </p:sp>
      <p:sp>
        <p:nvSpPr>
          <p:cNvPr id="30" name="Google Shape;30;p2"/>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
          <p:cNvSpPr/>
          <p:nvPr/>
        </p:nvSpPr>
        <p:spPr>
          <a:xfrm>
            <a:off x="552450" y="6438900"/>
            <a:ext cx="11087100" cy="9525"/>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552450" y="1000125"/>
            <a:ext cx="5239500" cy="14193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087E83"/>
                </a:solidFill>
                <a:latin typeface="Play"/>
                <a:ea typeface="Play"/>
                <a:cs typeface="Play"/>
                <a:sym typeface="Play"/>
              </a:rPr>
              <a:t>Task 1: Finding the cheapest train ticket</a:t>
            </a:r>
            <a:endParaRPr b="1" i="0" sz="3600" u="none" cap="none" strike="noStrike">
              <a:solidFill>
                <a:srgbClr val="087E83"/>
              </a:solidFill>
              <a:latin typeface="Play"/>
              <a:ea typeface="Play"/>
              <a:cs typeface="Play"/>
              <a:sym typeface="Play"/>
            </a:endParaRPr>
          </a:p>
        </p:txBody>
      </p:sp>
      <p:sp>
        <p:nvSpPr>
          <p:cNvPr id="33" name="Google Shape;33;p2"/>
          <p:cNvSpPr/>
          <p:nvPr/>
        </p:nvSpPr>
        <p:spPr>
          <a:xfrm>
            <a:off x="552450" y="2208600"/>
            <a:ext cx="5883000" cy="7431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125"/>
              <a:buFont typeface="Arial"/>
              <a:buNone/>
            </a:pPr>
            <a:r>
              <a:t/>
            </a:r>
            <a:endParaRPr b="1" i="0" sz="4125" u="none" cap="none" strike="noStrike">
              <a:solidFill>
                <a:srgbClr val="102D3A"/>
              </a:solidFill>
              <a:latin typeface="Play"/>
              <a:ea typeface="Play"/>
              <a:cs typeface="Play"/>
              <a:sym typeface="Play"/>
            </a:endParaRPr>
          </a:p>
        </p:txBody>
      </p:sp>
      <p:sp>
        <p:nvSpPr>
          <p:cNvPr id="34" name="Google Shape;34;p2"/>
          <p:cNvSpPr/>
          <p:nvPr/>
        </p:nvSpPr>
        <p:spPr>
          <a:xfrm>
            <a:off x="469900" y="2723515"/>
            <a:ext cx="5648960" cy="111506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To help their customers in finding the cheapest available ticket for their intended journey in the UK</a:t>
            </a:r>
            <a:endParaRPr b="0" i="0" sz="1600" u="none" cap="none" strike="noStrike">
              <a:solidFill>
                <a:schemeClr val="dk1"/>
              </a:solidFill>
              <a:latin typeface="Arial"/>
              <a:ea typeface="Arial"/>
              <a:cs typeface="Arial"/>
              <a:sym typeface="Arial"/>
            </a:endParaRPr>
          </a:p>
        </p:txBody>
      </p:sp>
      <p:sp>
        <p:nvSpPr>
          <p:cNvPr id="35" name="Google Shape;35;p2"/>
          <p:cNvSpPr/>
          <p:nvPr/>
        </p:nvSpPr>
        <p:spPr>
          <a:xfrm>
            <a:off x="479325" y="2276645"/>
            <a:ext cx="47898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
          <p:cNvSpPr/>
          <p:nvPr/>
        </p:nvSpPr>
        <p:spPr>
          <a:xfrm>
            <a:off x="623470" y="4868975"/>
            <a:ext cx="5429400" cy="247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t/>
            </a:r>
            <a:endParaRPr b="1" i="0" sz="1275" u="none" cap="none" strike="noStrike">
              <a:solidFill>
                <a:srgbClr val="102D3A"/>
              </a:solidFill>
              <a:latin typeface="Arial"/>
              <a:ea typeface="Arial"/>
              <a:cs typeface="Arial"/>
              <a:sym typeface="Arial"/>
            </a:endParaRPr>
          </a:p>
        </p:txBody>
      </p:sp>
      <p:sp>
        <p:nvSpPr>
          <p:cNvPr id="37" name="Google Shape;37;p2"/>
          <p:cNvSpPr/>
          <p:nvPr/>
        </p:nvSpPr>
        <p:spPr>
          <a:xfrm>
            <a:off x="6249875" y="582550"/>
            <a:ext cx="5132400" cy="5484900"/>
          </a:xfrm>
          <a:prstGeom prst="rect">
            <a:avLst/>
          </a:prstGeom>
          <a:solidFill>
            <a:srgbClr val="FFFFFF"/>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
          <p:cNvSpPr/>
          <p:nvPr/>
        </p:nvSpPr>
        <p:spPr>
          <a:xfrm>
            <a:off x="6518275" y="852805"/>
            <a:ext cx="2857500" cy="76454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87E8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87E83"/>
                </a:solidFill>
                <a:latin typeface="Arial"/>
                <a:ea typeface="Arial"/>
                <a:cs typeface="Arial"/>
                <a:sym typeface="Arial"/>
              </a:rPr>
              <a:t>Introduction</a:t>
            </a:r>
            <a:endParaRPr b="1" i="0" sz="2400" u="none" cap="none" strike="noStrike">
              <a:solidFill>
                <a:srgbClr val="087E83"/>
              </a:solidFill>
              <a:latin typeface="Arial"/>
              <a:ea typeface="Arial"/>
              <a:cs typeface="Arial"/>
              <a:sym typeface="Arial"/>
            </a:endParaRPr>
          </a:p>
        </p:txBody>
      </p:sp>
      <p:sp>
        <p:nvSpPr>
          <p:cNvPr id="39" name="Google Shape;39;p2"/>
          <p:cNvSpPr/>
          <p:nvPr/>
        </p:nvSpPr>
        <p:spPr>
          <a:xfrm>
            <a:off x="6532325" y="1329150"/>
            <a:ext cx="4137000" cy="3507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50"/>
              <a:buFont typeface="Arial"/>
              <a:buNone/>
            </a:pPr>
            <a:r>
              <a:t/>
            </a:r>
            <a:endParaRPr b="1" i="0" sz="1650" u="none" cap="none" strike="noStrike">
              <a:solidFill>
                <a:srgbClr val="102D3A"/>
              </a:solidFill>
              <a:latin typeface="Play"/>
              <a:ea typeface="Play"/>
              <a:cs typeface="Play"/>
              <a:sym typeface="Play"/>
            </a:endParaRPr>
          </a:p>
        </p:txBody>
      </p:sp>
      <p:sp>
        <p:nvSpPr>
          <p:cNvPr id="40" name="Google Shape;40;p2"/>
          <p:cNvSpPr/>
          <p:nvPr/>
        </p:nvSpPr>
        <p:spPr>
          <a:xfrm>
            <a:off x="7867650" y="4467225"/>
            <a:ext cx="3105150" cy="7429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
          <p:cNvSpPr txBox="1"/>
          <p:nvPr/>
        </p:nvSpPr>
        <p:spPr>
          <a:xfrm>
            <a:off x="6532245" y="1819275"/>
            <a:ext cx="4567555" cy="3808730"/>
          </a:xfrm>
          <a:prstGeom prst="rect">
            <a:avLst/>
          </a:prstGeom>
          <a:noFill/>
          <a:ln>
            <a:noFill/>
          </a:ln>
        </p:spPr>
        <p:txBody>
          <a:bodyPr anchorCtr="0" anchor="t" bIns="91425" lIns="91425" spcFirstLastPara="1" rIns="91425" wrap="square" tIns="91425">
            <a:noAutofit/>
          </a:bodyPr>
          <a:lstStyle/>
          <a:p>
            <a:pPr indent="-285750" lvl="0" marL="285750" marR="0" rtl="0" algn="just">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This project focuses on developing a conversational chatbot that helps users search for train tickets. </a:t>
            </a:r>
            <a:endParaRPr b="0" i="0" sz="1600" u="none" cap="none" strike="noStrike">
              <a:solidFill>
                <a:srgbClr val="000000"/>
              </a:solidFill>
              <a:latin typeface="Arial"/>
              <a:ea typeface="Arial"/>
              <a:cs typeface="Arial"/>
              <a:sym typeface="Arial"/>
            </a:endParaRPr>
          </a:p>
          <a:p>
            <a:pPr indent="-184150" lvl="0" marL="285750" marR="0" rtl="0" algn="just">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The chatbot collects journey information through a step-by-step dialogue and then returns a suitable ticket option with a booking link. </a:t>
            </a:r>
            <a:endParaRPr b="0" i="0" sz="1600" u="none" cap="none" strike="noStrike">
              <a:solidFill>
                <a:srgbClr val="000000"/>
              </a:solidFill>
              <a:latin typeface="Arial"/>
              <a:ea typeface="Arial"/>
              <a:cs typeface="Arial"/>
              <a:sym typeface="Arial"/>
            </a:endParaRPr>
          </a:p>
          <a:p>
            <a:pPr indent="-184150" lvl="0" marL="285750" marR="0" rtl="0" algn="just">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The system was designed for users who may not want to manually search through train websites and instead prefer a guided conversation.</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3"/>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102D3A"/>
              </a:solidFill>
              <a:latin typeface="Arial"/>
              <a:ea typeface="Arial"/>
              <a:cs typeface="Arial"/>
              <a:sym typeface="Arial"/>
            </a:endParaRPr>
          </a:p>
        </p:txBody>
      </p:sp>
      <p:sp>
        <p:nvSpPr>
          <p:cNvPr id="48" name="Google Shape;48;p3"/>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3"/>
          <p:cNvSpPr/>
          <p:nvPr/>
        </p:nvSpPr>
        <p:spPr>
          <a:xfrm>
            <a:off x="552450" y="6438900"/>
            <a:ext cx="11087100" cy="9525"/>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3"/>
          <p:cNvSpPr/>
          <p:nvPr/>
        </p:nvSpPr>
        <p:spPr>
          <a:xfrm>
            <a:off x="407035" y="1330325"/>
            <a:ext cx="5962015" cy="8636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
          <p:cNvSpPr/>
          <p:nvPr/>
        </p:nvSpPr>
        <p:spPr>
          <a:xfrm>
            <a:off x="623470" y="4868975"/>
            <a:ext cx="5429400" cy="247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t/>
            </a:r>
            <a:endParaRPr b="1" i="0" sz="1275" u="none" cap="none" strike="noStrike">
              <a:solidFill>
                <a:srgbClr val="102D3A"/>
              </a:solidFill>
              <a:latin typeface="Arial"/>
              <a:ea typeface="Arial"/>
              <a:cs typeface="Arial"/>
              <a:sym typeface="Arial"/>
            </a:endParaRPr>
          </a:p>
        </p:txBody>
      </p:sp>
      <p:sp>
        <p:nvSpPr>
          <p:cNvPr id="52" name="Google Shape;52;p3"/>
          <p:cNvSpPr/>
          <p:nvPr/>
        </p:nvSpPr>
        <p:spPr>
          <a:xfrm>
            <a:off x="6518275" y="852805"/>
            <a:ext cx="2857500" cy="76454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87E83"/>
              </a:solidFill>
              <a:latin typeface="Arial"/>
              <a:ea typeface="Arial"/>
              <a:cs typeface="Arial"/>
              <a:sym typeface="Arial"/>
            </a:endParaRPr>
          </a:p>
        </p:txBody>
      </p:sp>
      <p:sp>
        <p:nvSpPr>
          <p:cNvPr id="53" name="Google Shape;53;p3"/>
          <p:cNvSpPr txBox="1"/>
          <p:nvPr/>
        </p:nvSpPr>
        <p:spPr>
          <a:xfrm>
            <a:off x="252730" y="615950"/>
            <a:ext cx="11379835" cy="575691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None/>
            </a:pPr>
            <a:r>
              <a:rPr b="1" i="0" lang="en-US" sz="2400" u="none" cap="none" strike="noStrike">
                <a:solidFill>
                  <a:schemeClr val="accent1"/>
                </a:solidFill>
                <a:latin typeface="Arial"/>
                <a:ea typeface="Arial"/>
                <a:cs typeface="Arial"/>
                <a:sym typeface="Arial"/>
              </a:rPr>
              <a:t> What the Chatbot Is Designed to Do??</a:t>
            </a:r>
            <a:endParaRPr b="1" i="0" sz="2400" u="none" cap="none" strike="noStrike">
              <a:solidFill>
                <a:schemeClr val="accent1"/>
              </a:solidFill>
              <a:latin typeface="Arial"/>
              <a:ea typeface="Arial"/>
              <a:cs typeface="Arial"/>
              <a:sym typeface="Arial"/>
            </a:endParaRPr>
          </a:p>
          <a:p>
            <a:pPr indent="-317500" lvl="0" marL="457200" marR="0" rtl="0" algn="just">
              <a:lnSpc>
                <a:spcPct val="100000"/>
              </a:lnSpc>
              <a:spcBef>
                <a:spcPts val="0"/>
              </a:spcBef>
              <a:spcAft>
                <a:spcPts val="0"/>
              </a:spcAft>
              <a:buClr>
                <a:srgbClr val="000000"/>
              </a:buClr>
              <a:buSzPts val="2200"/>
              <a:buFont typeface="Arial"/>
              <a:buNone/>
            </a:pPr>
            <a:r>
              <a:t/>
            </a:r>
            <a:endParaRPr b="1" i="0" sz="2200" u="none" cap="none" strike="noStrike">
              <a:solidFill>
                <a:schemeClr val="accent1"/>
              </a:solidFill>
              <a:latin typeface="Arial"/>
              <a:ea typeface="Arial"/>
              <a:cs typeface="Arial"/>
              <a:sym typeface="Arial"/>
            </a:endParaRPr>
          </a:p>
          <a:p>
            <a:pPr indent="-317500" lvl="0" marL="457200" marR="0" rtl="0" algn="just">
              <a:lnSpc>
                <a:spcPct val="100000"/>
              </a:lnSpc>
              <a:spcBef>
                <a:spcPts val="0"/>
              </a:spcBef>
              <a:spcAft>
                <a:spcPts val="0"/>
              </a:spcAft>
              <a:buClr>
                <a:srgbClr val="000000"/>
              </a:buClr>
              <a:buSzPts val="2200"/>
              <a:buFont typeface="Arial"/>
              <a:buNone/>
            </a:pPr>
            <a:r>
              <a:t/>
            </a:r>
            <a:endParaRPr b="1" i="0" sz="2200" u="none" cap="none" strike="noStrike">
              <a:solidFill>
                <a:schemeClr val="accent1"/>
              </a:solidFill>
              <a:latin typeface="Arial"/>
              <a:ea typeface="Arial"/>
              <a:cs typeface="Arial"/>
              <a:sym typeface="Arial"/>
            </a:endParaRPr>
          </a:p>
          <a:p>
            <a:pPr indent="-317500" lvl="0" marL="457200" marR="0" rtl="0" algn="just">
              <a:lnSpc>
                <a:spcPct val="100000"/>
              </a:lnSpc>
              <a:spcBef>
                <a:spcPts val="0"/>
              </a:spcBef>
              <a:spcAft>
                <a:spcPts val="0"/>
              </a:spcAft>
              <a:buClr>
                <a:srgbClr val="000000"/>
              </a:buClr>
              <a:buSzPts val="2200"/>
              <a:buFont typeface="Arial"/>
              <a:buNone/>
            </a:pPr>
            <a:r>
              <a:t/>
            </a:r>
            <a:endParaRPr b="1" i="0" sz="2200" u="none" cap="none" strike="noStrike">
              <a:solidFill>
                <a:schemeClr val="accent1"/>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The main objective of the first task was to build a chatbot that can help users find the cheapest available train ticket for their journey. </a:t>
            </a:r>
            <a:endParaRPr b="0" i="0" sz="2200" u="none" cap="none" strike="noStrike">
              <a:solidFill>
                <a:srgbClr val="000000"/>
              </a:solidFill>
              <a:latin typeface="Arial"/>
              <a:ea typeface="Arial"/>
              <a:cs typeface="Arial"/>
              <a:sym typeface="Arial"/>
            </a:endParaRPr>
          </a:p>
          <a:p>
            <a:pPr indent="-317500" lvl="0" marL="457200" marR="0" rtl="0" algn="just">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To do this, the chatbot needs to understand the user’s travel request, collect missing information such as departure station, destination station, travel date, time, and ticket type, and then produce a ticket result.</a:t>
            </a:r>
            <a:endParaRPr b="0" i="0" sz="2200" u="none" cap="none" strike="noStrike">
              <a:solidFill>
                <a:srgbClr val="000000"/>
              </a:solidFill>
              <a:latin typeface="Arial"/>
              <a:ea typeface="Arial"/>
              <a:cs typeface="Arial"/>
              <a:sym typeface="Arial"/>
            </a:endParaRPr>
          </a:p>
          <a:p>
            <a:pPr indent="-317500" lvl="0" marL="457200" marR="0" rtl="0" algn="just">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The chatbot also supports extra journey details such as return tickets and railcards. This makes the conversation more realistic because many passengers need discounts or return journeys when booking train tickets.</a:t>
            </a:r>
            <a:endParaRPr b="0" i="0" sz="2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t/>
            </a:r>
            <a:endParaRPr b="1" i="0" sz="2200" u="none" cap="none" strike="noStrike">
              <a:solidFill>
                <a:schemeClr val="accent1"/>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2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4"/>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Clr>
                <a:schemeClr val="dk1"/>
              </a:buClr>
              <a:buSzPts val="825"/>
              <a:buFont typeface="Arial"/>
              <a:buNone/>
            </a:pPr>
            <a:r>
              <a:t/>
            </a:r>
            <a:endParaRPr b="1" i="0" sz="1400" u="none" cap="none" strike="noStrike">
              <a:solidFill>
                <a:srgbClr val="102D3A"/>
              </a:solidFill>
              <a:latin typeface="Arial"/>
              <a:ea typeface="Arial"/>
              <a:cs typeface="Arial"/>
              <a:sym typeface="Arial"/>
            </a:endParaRPr>
          </a:p>
        </p:txBody>
      </p:sp>
      <p:sp>
        <p:nvSpPr>
          <p:cNvPr id="60" name="Google Shape;60;p4"/>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4"/>
          <p:cNvSpPr/>
          <p:nvPr/>
        </p:nvSpPr>
        <p:spPr>
          <a:xfrm>
            <a:off x="552450" y="6438900"/>
            <a:ext cx="11087100" cy="9525"/>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4"/>
          <p:cNvSpPr/>
          <p:nvPr/>
        </p:nvSpPr>
        <p:spPr>
          <a:xfrm flipH="1" rot="10800000">
            <a:off x="479425" y="1616710"/>
            <a:ext cx="779399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4"/>
          <p:cNvSpPr/>
          <p:nvPr/>
        </p:nvSpPr>
        <p:spPr>
          <a:xfrm>
            <a:off x="623470" y="4868975"/>
            <a:ext cx="5429400" cy="247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t/>
            </a:r>
            <a:endParaRPr b="1" i="0" sz="1275" u="none" cap="none" strike="noStrike">
              <a:solidFill>
                <a:srgbClr val="102D3A"/>
              </a:solidFill>
              <a:latin typeface="Arial"/>
              <a:ea typeface="Arial"/>
              <a:cs typeface="Arial"/>
              <a:sym typeface="Arial"/>
            </a:endParaRPr>
          </a:p>
        </p:txBody>
      </p:sp>
      <p:sp>
        <p:nvSpPr>
          <p:cNvPr id="64" name="Google Shape;64;p4"/>
          <p:cNvSpPr/>
          <p:nvPr/>
        </p:nvSpPr>
        <p:spPr>
          <a:xfrm>
            <a:off x="6518275" y="852805"/>
            <a:ext cx="2857500" cy="76454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87E83"/>
              </a:solidFill>
              <a:latin typeface="Arial"/>
              <a:ea typeface="Arial"/>
              <a:cs typeface="Arial"/>
              <a:sym typeface="Arial"/>
            </a:endParaRPr>
          </a:p>
        </p:txBody>
      </p:sp>
      <p:sp>
        <p:nvSpPr>
          <p:cNvPr id="65" name="Google Shape;65;p4"/>
          <p:cNvSpPr txBox="1"/>
          <p:nvPr/>
        </p:nvSpPr>
        <p:spPr>
          <a:xfrm>
            <a:off x="209550" y="638175"/>
            <a:ext cx="11423015" cy="59594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br>
              <a:rPr b="1" i="0" lang="en-US" sz="2200" u="none" cap="none" strike="noStrike">
                <a:solidFill>
                  <a:schemeClr val="accent1"/>
                </a:solidFill>
                <a:latin typeface="Arial"/>
                <a:ea typeface="Arial"/>
                <a:cs typeface="Arial"/>
                <a:sym typeface="Arial"/>
              </a:rPr>
            </a:br>
            <a:r>
              <a:rPr b="1" i="0" lang="en-US" sz="2400" u="none" cap="none" strike="noStrike">
                <a:solidFill>
                  <a:schemeClr val="accent1"/>
                </a:solidFill>
                <a:latin typeface="Arial"/>
                <a:ea typeface="Arial"/>
                <a:cs typeface="Arial"/>
                <a:sym typeface="Arial"/>
              </a:rPr>
              <a:t>  Development Approach: How the System Was Built?</a:t>
            </a:r>
            <a:endParaRPr b="1" i="0" sz="2400" u="none" cap="none" strike="noStrike">
              <a:solidFill>
                <a:schemeClr val="accent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200" u="none" cap="none" strike="noStrike">
              <a:solidFill>
                <a:schemeClr val="accent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200" u="none" cap="none" strike="noStrike">
              <a:solidFill>
                <a:schemeClr val="accent1"/>
              </a:solidFill>
              <a:latin typeface="Arial"/>
              <a:ea typeface="Arial"/>
              <a:cs typeface="Arial"/>
              <a:sym typeface="Arial"/>
            </a:endParaRPr>
          </a:p>
          <a:p>
            <a:pPr indent="-342900" lvl="0" marL="342900" marR="0" rtl="0" algn="just">
              <a:lnSpc>
                <a:spcPct val="100000"/>
              </a:lnSpc>
              <a:spcBef>
                <a:spcPts val="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The chatbot was developed as a FastAPI web application. The backend handles the conversation logic, ticket search process, station validation, and API communication. The frontend provides a simple chat interface where the user can type messages and receive chatbot responses.</a:t>
            </a:r>
            <a:endParaRPr b="0" i="0" sz="2200" u="none" cap="none" strike="noStrike">
              <a:solidFill>
                <a:srgbClr val="000000"/>
              </a:solidFill>
              <a:latin typeface="Arial"/>
              <a:ea typeface="Arial"/>
              <a:cs typeface="Arial"/>
              <a:sym typeface="Arial"/>
            </a:endParaRPr>
          </a:p>
          <a:p>
            <a:pPr indent="-203200" lvl="0" marL="342900" marR="0" rtl="0" algn="just">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The system was divided into separate Python files so each part had a clear responsibility. For example, conversation.py manages the dialogue, nlu.py detects intent and extracts journey details, ticket_api.py connects to the National Rail API, and services.py handles ticket search and fare calculation.</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200" u="none" cap="none" strike="noStrike">
              <a:solidFill>
                <a:schemeClr val="accen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2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5"/>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102D3A"/>
              </a:solidFill>
              <a:latin typeface="Arial"/>
              <a:ea typeface="Arial"/>
              <a:cs typeface="Arial"/>
              <a:sym typeface="Arial"/>
            </a:endParaRPr>
          </a:p>
        </p:txBody>
      </p:sp>
      <p:sp>
        <p:nvSpPr>
          <p:cNvPr id="72" name="Google Shape;72;p5"/>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5"/>
          <p:cNvSpPr/>
          <p:nvPr/>
        </p:nvSpPr>
        <p:spPr>
          <a:xfrm>
            <a:off x="552450" y="6438900"/>
            <a:ext cx="11087100" cy="9525"/>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5"/>
          <p:cNvSpPr/>
          <p:nvPr/>
        </p:nvSpPr>
        <p:spPr>
          <a:xfrm>
            <a:off x="11239500" y="6534150"/>
            <a:ext cx="400200" cy="190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825"/>
              <a:buFont typeface="Arial"/>
              <a:buNone/>
            </a:pPr>
            <a:r>
              <a:t/>
            </a:r>
            <a:endParaRPr b="1" i="0" sz="825" u="none" cap="none" strike="noStrike">
              <a:solidFill>
                <a:srgbClr val="087E83"/>
              </a:solidFill>
              <a:latin typeface="Arial"/>
              <a:ea typeface="Arial"/>
              <a:cs typeface="Arial"/>
              <a:sym typeface="Arial"/>
            </a:endParaRPr>
          </a:p>
        </p:txBody>
      </p:sp>
      <p:sp>
        <p:nvSpPr>
          <p:cNvPr id="75" name="Google Shape;75;p5"/>
          <p:cNvSpPr/>
          <p:nvPr/>
        </p:nvSpPr>
        <p:spPr>
          <a:xfrm flipH="1" rot="10800000">
            <a:off x="263525" y="836295"/>
            <a:ext cx="779399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5"/>
          <p:cNvSpPr/>
          <p:nvPr/>
        </p:nvSpPr>
        <p:spPr>
          <a:xfrm>
            <a:off x="623470" y="4868975"/>
            <a:ext cx="5429400" cy="247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t/>
            </a:r>
            <a:endParaRPr b="1" i="0" sz="1275" u="none" cap="none" strike="noStrike">
              <a:solidFill>
                <a:srgbClr val="102D3A"/>
              </a:solidFill>
              <a:latin typeface="Arial"/>
              <a:ea typeface="Arial"/>
              <a:cs typeface="Arial"/>
              <a:sym typeface="Arial"/>
            </a:endParaRPr>
          </a:p>
        </p:txBody>
      </p:sp>
      <p:sp>
        <p:nvSpPr>
          <p:cNvPr id="77" name="Google Shape;77;p5"/>
          <p:cNvSpPr/>
          <p:nvPr/>
        </p:nvSpPr>
        <p:spPr>
          <a:xfrm>
            <a:off x="6518275" y="852805"/>
            <a:ext cx="2857500" cy="76454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87E83"/>
              </a:solidFill>
              <a:latin typeface="Arial"/>
              <a:ea typeface="Arial"/>
              <a:cs typeface="Arial"/>
              <a:sym typeface="Arial"/>
            </a:endParaRPr>
          </a:p>
        </p:txBody>
      </p:sp>
      <p:sp>
        <p:nvSpPr>
          <p:cNvPr id="78" name="Google Shape;78;p5"/>
          <p:cNvSpPr txBox="1"/>
          <p:nvPr/>
        </p:nvSpPr>
        <p:spPr>
          <a:xfrm>
            <a:off x="209550" y="386725"/>
            <a:ext cx="11331900" cy="6147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2000" u="none" cap="none" strike="noStrike">
                <a:solidFill>
                  <a:srgbClr val="0070C0"/>
                </a:solidFill>
                <a:latin typeface="Arial"/>
                <a:ea typeface="Arial"/>
                <a:cs typeface="Arial"/>
                <a:sym typeface="Arial"/>
              </a:rPr>
              <a:t>Conversation Design : Collecting Journey Details Step by Step</a:t>
            </a:r>
            <a:endParaRPr b="1" i="0" sz="20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200" u="none" cap="none" strike="noStrike">
              <a:solidFill>
                <a:srgbClr val="82CAEB"/>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900"/>
              <a:buFont typeface="Arial"/>
              <a:buChar char="•"/>
            </a:pPr>
            <a:r>
              <a:rPr b="0" i="0" lang="en-US" sz="1900" u="none" cap="none" strike="noStrike">
                <a:solidFill>
                  <a:srgbClr val="000000"/>
                </a:solidFill>
                <a:latin typeface="Arial"/>
                <a:ea typeface="Arial"/>
                <a:cs typeface="Arial"/>
                <a:sym typeface="Arial"/>
              </a:rPr>
              <a:t>The chatbot uses a slot-filling approach. This means it checks which information has already been collected and asks for anything missing. For example, if the user only says they want a ticket, the bot asks for the departure station. After that, it asks for the destination, date and time, ticket type, and railcard information.</a:t>
            </a:r>
            <a:endParaRPr b="0" i="0" sz="1900" u="none" cap="none" strike="noStrike">
              <a:solidFill>
                <a:srgbClr val="000000"/>
              </a:solidFill>
              <a:latin typeface="Arial"/>
              <a:ea typeface="Arial"/>
              <a:cs typeface="Arial"/>
              <a:sym typeface="Arial"/>
            </a:endParaRPr>
          </a:p>
          <a:p>
            <a:pPr indent="-165100" lvl="0" marL="285750" marR="0" rtl="0" algn="just">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900"/>
              <a:buFont typeface="Arial"/>
              <a:buChar char="•"/>
            </a:pPr>
            <a:r>
              <a:rPr b="0" i="0" lang="en-US" sz="1900" u="none" cap="none" strike="noStrike">
                <a:solidFill>
                  <a:srgbClr val="000000"/>
                </a:solidFill>
                <a:latin typeface="Arial"/>
                <a:ea typeface="Arial"/>
                <a:cs typeface="Arial"/>
                <a:sym typeface="Arial"/>
              </a:rPr>
              <a:t>This approach makes the chatbot easier to use because the user does not need to provide every detail in one sentence. The conversation continues naturally until enough information has been collected to search for a ticket</a:t>
            </a:r>
            <a:endParaRPr b="0" i="0" sz="1900" u="none" cap="none" strike="noStrike">
              <a:solidFill>
                <a:srgbClr val="000000"/>
              </a:solidFill>
              <a:latin typeface="Arial"/>
              <a:ea typeface="Arial"/>
              <a:cs typeface="Arial"/>
              <a:sym typeface="Arial"/>
            </a:endParaRPr>
          </a:p>
          <a:p>
            <a:pPr indent="-146050" lvl="0" marL="285750" marR="0" rtl="0" algn="just">
              <a:lnSpc>
                <a:spcPct val="100000"/>
              </a:lnSpc>
              <a:spcBef>
                <a:spcPts val="0"/>
              </a:spcBef>
              <a:spcAft>
                <a:spcPts val="0"/>
              </a:spcAft>
              <a:buClr>
                <a:srgbClr val="000000"/>
              </a:buClr>
              <a:buSzPts val="2200"/>
              <a:buFont typeface="Arial"/>
              <a:buNone/>
            </a:pPr>
            <a:r>
              <a:t/>
            </a:r>
            <a:endParaRPr b="0" i="0" sz="2200" u="none" cap="none" strike="noStrike">
              <a:solidFill>
                <a:srgbClr val="0070C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70C0"/>
                </a:solidFill>
                <a:latin typeface="Arial"/>
                <a:ea typeface="Arial"/>
                <a:cs typeface="Arial"/>
                <a:sym typeface="Arial"/>
              </a:rPr>
              <a:t>  </a:t>
            </a:r>
            <a:r>
              <a:rPr b="0" i="0" lang="en-US" sz="2000" u="none" cap="none" strike="noStrike">
                <a:solidFill>
                  <a:srgbClr val="1F5C99"/>
                </a:solidFill>
                <a:latin typeface="Arial"/>
                <a:ea typeface="Arial"/>
                <a:cs typeface="Arial"/>
                <a:sym typeface="Arial"/>
              </a:rPr>
              <a:t>Ticket Search and API Integration : Using National Rail Data Where Available</a:t>
            </a:r>
            <a:endParaRPr b="0" i="0" sz="2000" u="none" cap="none" strike="noStrike">
              <a:solidFill>
                <a:srgbClr val="1F5C99"/>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200"/>
              <a:buFont typeface="Arial"/>
              <a:buNone/>
            </a:pPr>
            <a:r>
              <a:t/>
            </a:r>
            <a:endParaRPr b="0" i="0" sz="2200" u="none" cap="none" strike="noStrike">
              <a:solidFill>
                <a:srgbClr val="1F5C99"/>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900"/>
              <a:buFont typeface="Arial"/>
              <a:buChar char="•"/>
            </a:pPr>
            <a:r>
              <a:rPr b="0" i="0" lang="en-US" sz="1900" u="none" cap="none" strike="noStrike">
                <a:solidFill>
                  <a:srgbClr val="000000"/>
                </a:solidFill>
                <a:latin typeface="Arial"/>
                <a:ea typeface="Arial"/>
                <a:cs typeface="Arial"/>
                <a:sym typeface="Arial"/>
              </a:rPr>
              <a:t>The chatbot attempts to use the National Rail journey planner API to retrieve journey information. The API request includes the origin station, destination station, travel time, passenger details, and railcard information where available.</a:t>
            </a:r>
            <a:endParaRPr b="0" i="0" sz="1900" u="none" cap="none" strike="noStrike">
              <a:solidFill>
                <a:srgbClr val="000000"/>
              </a:solidFill>
              <a:latin typeface="Arial"/>
              <a:ea typeface="Arial"/>
              <a:cs typeface="Arial"/>
              <a:sym typeface="Arial"/>
            </a:endParaRPr>
          </a:p>
          <a:p>
            <a:pPr indent="-165100" lvl="0" marL="285750" marR="0" rtl="0" algn="just">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900"/>
              <a:buFont typeface="Arial"/>
              <a:buChar char="•"/>
            </a:pPr>
            <a:r>
              <a:rPr b="0" i="0" lang="en-US" sz="1900" u="none" cap="none" strike="noStrike">
                <a:solidFill>
                  <a:srgbClr val="000000"/>
                </a:solidFill>
                <a:latin typeface="Arial"/>
                <a:ea typeface="Arial"/>
                <a:cs typeface="Arial"/>
                <a:sym typeface="Arial"/>
              </a:rPr>
              <a:t>When the API returns useful journey details, such as departure time, arrival time, platform, duration, or price, the chatbot uses those values. However, API responses may not always include complete fare or platform information. To handle this, the system includes fallback logic so the chatbot can still complete the conversation.</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900" u="none" cap="none" strike="noStrike">
              <a:solidFill>
                <a:srgbClr val="82CAEB"/>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900" u="none" cap="none" strike="noStrike">
              <a:solidFill>
                <a:srgbClr val="000000"/>
              </a:solidFill>
              <a:latin typeface="Arial"/>
              <a:ea typeface="Arial"/>
              <a:cs typeface="Arial"/>
              <a:sym typeface="Arial"/>
            </a:endParaRPr>
          </a:p>
        </p:txBody>
      </p:sp>
      <p:sp>
        <p:nvSpPr>
          <p:cNvPr id="79" name="Google Shape;79;p5"/>
          <p:cNvSpPr/>
          <p:nvPr/>
        </p:nvSpPr>
        <p:spPr>
          <a:xfrm flipH="1" rot="10800000">
            <a:off x="479425" y="4079875"/>
            <a:ext cx="863473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6"/>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102D3A"/>
              </a:solidFill>
              <a:latin typeface="Arial"/>
              <a:ea typeface="Arial"/>
              <a:cs typeface="Arial"/>
              <a:sym typeface="Arial"/>
            </a:endParaRPr>
          </a:p>
        </p:txBody>
      </p:sp>
      <p:sp>
        <p:nvSpPr>
          <p:cNvPr id="86" name="Google Shape;86;p6"/>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6"/>
          <p:cNvSpPr/>
          <p:nvPr/>
        </p:nvSpPr>
        <p:spPr>
          <a:xfrm>
            <a:off x="552450" y="6438900"/>
            <a:ext cx="11087100" cy="9525"/>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6"/>
          <p:cNvSpPr/>
          <p:nvPr/>
        </p:nvSpPr>
        <p:spPr>
          <a:xfrm>
            <a:off x="11239500" y="6534150"/>
            <a:ext cx="400050" cy="190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825"/>
              <a:buFont typeface="Arial"/>
              <a:buNone/>
            </a:pPr>
            <a:r>
              <a:t/>
            </a:r>
            <a:endParaRPr b="1" i="0" sz="825" u="none" cap="none" strike="noStrike">
              <a:solidFill>
                <a:srgbClr val="087E83"/>
              </a:solidFill>
              <a:latin typeface="Arial"/>
              <a:ea typeface="Arial"/>
              <a:cs typeface="Arial"/>
              <a:sym typeface="Arial"/>
            </a:endParaRPr>
          </a:p>
        </p:txBody>
      </p:sp>
      <p:sp>
        <p:nvSpPr>
          <p:cNvPr id="89" name="Google Shape;89;p6"/>
          <p:cNvSpPr/>
          <p:nvPr/>
        </p:nvSpPr>
        <p:spPr>
          <a:xfrm flipH="1" rot="10800000">
            <a:off x="263525" y="836295"/>
            <a:ext cx="779399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6"/>
          <p:cNvSpPr/>
          <p:nvPr/>
        </p:nvSpPr>
        <p:spPr>
          <a:xfrm>
            <a:off x="623470" y="4868975"/>
            <a:ext cx="5429400" cy="247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t/>
            </a:r>
            <a:endParaRPr b="1" i="0" sz="1275" u="none" cap="none" strike="noStrike">
              <a:solidFill>
                <a:srgbClr val="102D3A"/>
              </a:solidFill>
              <a:latin typeface="Arial"/>
              <a:ea typeface="Arial"/>
              <a:cs typeface="Arial"/>
              <a:sym typeface="Arial"/>
            </a:endParaRPr>
          </a:p>
        </p:txBody>
      </p:sp>
      <p:sp>
        <p:nvSpPr>
          <p:cNvPr id="91" name="Google Shape;91;p6"/>
          <p:cNvSpPr/>
          <p:nvPr/>
        </p:nvSpPr>
        <p:spPr>
          <a:xfrm>
            <a:off x="6518275" y="852805"/>
            <a:ext cx="2857500" cy="76454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87E83"/>
              </a:solidFill>
              <a:latin typeface="Arial"/>
              <a:ea typeface="Arial"/>
              <a:cs typeface="Arial"/>
              <a:sym typeface="Arial"/>
            </a:endParaRPr>
          </a:p>
        </p:txBody>
      </p:sp>
      <p:sp>
        <p:nvSpPr>
          <p:cNvPr id="92" name="Google Shape;92;p6"/>
          <p:cNvSpPr txBox="1"/>
          <p:nvPr/>
        </p:nvSpPr>
        <p:spPr>
          <a:xfrm>
            <a:off x="209550" y="386723"/>
            <a:ext cx="11247600" cy="51189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None/>
            </a:pPr>
            <a:r>
              <a:rPr b="0" i="0" lang="en-US" sz="2000" u="none" cap="none" strike="noStrike">
                <a:solidFill>
                  <a:srgbClr val="0070C0"/>
                </a:solidFill>
                <a:latin typeface="Arial"/>
                <a:ea typeface="Arial"/>
                <a:cs typeface="Arial"/>
                <a:sym typeface="Arial"/>
              </a:rPr>
              <a:t> Fare Handling : Combining API Data with Fallback Fare Logic</a:t>
            </a:r>
            <a:endParaRPr b="0" i="0" sz="2000" u="none" cap="none" strike="noStrike">
              <a:solidFill>
                <a:srgbClr val="0070C0"/>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900"/>
              <a:buFont typeface="Arial"/>
              <a:buChar char="•"/>
            </a:pPr>
            <a:r>
              <a:rPr b="0" i="0" lang="en-US" sz="1900" u="none" cap="none" strike="noStrike">
                <a:solidFill>
                  <a:srgbClr val="000000"/>
                </a:solidFill>
                <a:latin typeface="Arial"/>
                <a:ea typeface="Arial"/>
                <a:cs typeface="Arial"/>
                <a:sym typeface="Arial"/>
              </a:rPr>
              <a:t>One challenge during development was that the API did not always return ticket prices. To avoid the chatbot failing or showing no result, a fallback fare engine was implemented. If the API returns a real price, the chatbot uses that price. If the API does not return a price, the chatbot uses a deterministic estimated fare.</a:t>
            </a:r>
            <a:endParaRPr b="0" i="0" sz="1900" u="none" cap="none" strike="noStrike">
              <a:solidFill>
                <a:srgbClr val="000000"/>
              </a:solidFill>
              <a:latin typeface="Arial"/>
              <a:ea typeface="Arial"/>
              <a:cs typeface="Arial"/>
              <a:sym typeface="Arial"/>
            </a:endParaRPr>
          </a:p>
          <a:p>
            <a:pPr indent="-165100" lvl="0" marL="285750" marR="0" rtl="0" algn="just">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900"/>
              <a:buFont typeface="Arial"/>
              <a:buChar char="•"/>
            </a:pPr>
            <a:r>
              <a:rPr b="0" i="0" lang="en-US" sz="1900" u="none" cap="none" strike="noStrike">
                <a:solidFill>
                  <a:srgbClr val="000000"/>
                </a:solidFill>
                <a:latin typeface="Arial"/>
                <a:ea typeface="Arial"/>
                <a:cs typeface="Arial"/>
                <a:sym typeface="Arial"/>
              </a:rPr>
              <a:t>This fallback keeps the chatbot functional during testing and demonstration. It also makes the behaviour more reliable because the user still receives a ticket result even when the live API response is incomplete.</a:t>
            </a:r>
            <a:endParaRPr b="0" i="0" sz="19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70C0"/>
                </a:solidFill>
                <a:latin typeface="Arial"/>
                <a:ea typeface="Arial"/>
                <a:cs typeface="Arial"/>
                <a:sym typeface="Arial"/>
              </a:rPr>
              <a:t>Railcard Discount Implementation : Adding Discount Support</a:t>
            </a:r>
            <a:endParaRPr b="0" i="0" sz="2000" u="none" cap="none" strike="noStrike">
              <a:solidFill>
                <a:srgbClr val="0070C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900"/>
              <a:buFont typeface="Arial"/>
              <a:buChar char="•"/>
            </a:pPr>
            <a:r>
              <a:rPr b="0" i="0" lang="en-US" sz="1900" u="none" cap="none" strike="noStrike">
                <a:solidFill>
                  <a:srgbClr val="000000"/>
                </a:solidFill>
                <a:latin typeface="Arial"/>
                <a:ea typeface="Arial"/>
                <a:cs typeface="Arial"/>
                <a:sym typeface="Arial"/>
              </a:rPr>
              <a:t>A railcard feature was added so users can apply discounts to their ticket. The chatbot first asks whether the user has a railcard. If the user says yes, it asks which railcard they want to use. It supports common UK railcards such as 16-25, Senior, Disabled Persons, Family &amp; Friends, Two Together, Network, and Veterans.</a:t>
            </a:r>
            <a:endParaRPr b="0" i="0" sz="1900" u="none" cap="none" strike="noStrike">
              <a:solidFill>
                <a:srgbClr val="000000"/>
              </a:solidFill>
              <a:latin typeface="Arial"/>
              <a:ea typeface="Arial"/>
              <a:cs typeface="Arial"/>
              <a:sym typeface="Arial"/>
            </a:endParaRPr>
          </a:p>
          <a:p>
            <a:pPr indent="-165100" lvl="0" marL="285750" marR="0" rtl="0" algn="just">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900"/>
              <a:buFont typeface="Arial"/>
              <a:buChar char="•"/>
            </a:pPr>
            <a:r>
              <a:rPr b="0" i="0" lang="en-US" sz="1900" u="none" cap="none" strike="noStrike">
                <a:solidFill>
                  <a:srgbClr val="000000"/>
                </a:solidFill>
                <a:latin typeface="Arial"/>
                <a:ea typeface="Arial"/>
                <a:cs typeface="Arial"/>
                <a:sym typeface="Arial"/>
              </a:rPr>
              <a:t>During testing, an issue occurred where typing 16-25 was incorrectly treated as a journey time or date. This was fixed by making the railcard collection state-aware. When the bot is asking for a railcard, the system now interprets the user’s answer only as a railcard response, not as travel time information.</a:t>
            </a:r>
            <a:endParaRPr b="0" i="0" sz="19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1900" u="none" cap="none" strike="noStrike">
              <a:solidFill>
                <a:srgbClr val="000000"/>
              </a:solidFill>
              <a:latin typeface="Arial"/>
              <a:ea typeface="Arial"/>
              <a:cs typeface="Arial"/>
              <a:sym typeface="Arial"/>
            </a:endParaRPr>
          </a:p>
        </p:txBody>
      </p:sp>
      <p:sp>
        <p:nvSpPr>
          <p:cNvPr id="93" name="Google Shape;93;p6"/>
          <p:cNvSpPr/>
          <p:nvPr/>
        </p:nvSpPr>
        <p:spPr>
          <a:xfrm flipH="1" rot="10800000">
            <a:off x="407035" y="4069715"/>
            <a:ext cx="6800215"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7"/>
          <p:cNvSpPr/>
          <p:nvPr/>
        </p:nvSpPr>
        <p:spPr>
          <a:xfrm>
            <a:off x="-66362"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102D3A"/>
              </a:solidFill>
              <a:latin typeface="Arial"/>
              <a:ea typeface="Arial"/>
              <a:cs typeface="Arial"/>
              <a:sym typeface="Arial"/>
            </a:endParaRPr>
          </a:p>
        </p:txBody>
      </p:sp>
      <p:sp>
        <p:nvSpPr>
          <p:cNvPr id="100" name="Google Shape;100;p7"/>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7"/>
          <p:cNvSpPr/>
          <p:nvPr/>
        </p:nvSpPr>
        <p:spPr>
          <a:xfrm>
            <a:off x="552450" y="6438900"/>
            <a:ext cx="11087100" cy="9525"/>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7"/>
          <p:cNvSpPr/>
          <p:nvPr/>
        </p:nvSpPr>
        <p:spPr>
          <a:xfrm>
            <a:off x="11239500" y="6534150"/>
            <a:ext cx="400050" cy="190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825"/>
              <a:buFont typeface="Arial"/>
              <a:buNone/>
            </a:pPr>
            <a:r>
              <a:t/>
            </a:r>
            <a:endParaRPr b="1" i="0" sz="825" u="none" cap="none" strike="noStrike">
              <a:solidFill>
                <a:srgbClr val="087E83"/>
              </a:solidFill>
              <a:latin typeface="Arial"/>
              <a:ea typeface="Arial"/>
              <a:cs typeface="Arial"/>
              <a:sym typeface="Arial"/>
            </a:endParaRPr>
          </a:p>
        </p:txBody>
      </p:sp>
      <p:sp>
        <p:nvSpPr>
          <p:cNvPr id="103" name="Google Shape;103;p7"/>
          <p:cNvSpPr/>
          <p:nvPr/>
        </p:nvSpPr>
        <p:spPr>
          <a:xfrm flipH="1" rot="10800000">
            <a:off x="263525" y="836295"/>
            <a:ext cx="779399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7"/>
          <p:cNvSpPr/>
          <p:nvPr/>
        </p:nvSpPr>
        <p:spPr>
          <a:xfrm>
            <a:off x="623470" y="4868975"/>
            <a:ext cx="5429400" cy="247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t/>
            </a:r>
            <a:endParaRPr b="1" i="0" sz="1275" u="none" cap="none" strike="noStrike">
              <a:solidFill>
                <a:srgbClr val="102D3A"/>
              </a:solidFill>
              <a:latin typeface="Arial"/>
              <a:ea typeface="Arial"/>
              <a:cs typeface="Arial"/>
              <a:sym typeface="Arial"/>
            </a:endParaRPr>
          </a:p>
        </p:txBody>
      </p:sp>
      <p:sp>
        <p:nvSpPr>
          <p:cNvPr id="105" name="Google Shape;105;p7"/>
          <p:cNvSpPr/>
          <p:nvPr/>
        </p:nvSpPr>
        <p:spPr>
          <a:xfrm>
            <a:off x="6518275" y="852805"/>
            <a:ext cx="2857500" cy="76454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87E83"/>
              </a:solidFill>
              <a:latin typeface="Arial"/>
              <a:ea typeface="Arial"/>
              <a:cs typeface="Arial"/>
              <a:sym typeface="Arial"/>
            </a:endParaRPr>
          </a:p>
        </p:txBody>
      </p:sp>
      <p:sp>
        <p:nvSpPr>
          <p:cNvPr id="106" name="Google Shape;106;p7"/>
          <p:cNvSpPr txBox="1"/>
          <p:nvPr/>
        </p:nvSpPr>
        <p:spPr>
          <a:xfrm>
            <a:off x="209550" y="386725"/>
            <a:ext cx="11430000" cy="61473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None/>
            </a:pPr>
            <a:r>
              <a:rPr b="0" i="0" lang="en-US" sz="2000" u="none" cap="none" strike="noStrike">
                <a:solidFill>
                  <a:srgbClr val="0070C0"/>
                </a:solidFill>
                <a:latin typeface="Arial"/>
                <a:ea typeface="Arial"/>
                <a:cs typeface="Arial"/>
                <a:sym typeface="Arial"/>
              </a:rPr>
              <a:t>Station Validation : Improving Station Name Accuracy</a:t>
            </a:r>
            <a:endParaRPr b="0" i="0" sz="2000" u="none" cap="none" strike="noStrike">
              <a:solidFill>
                <a:srgbClr val="0070C0"/>
              </a:solidFill>
              <a:latin typeface="Arial"/>
              <a:ea typeface="Arial"/>
              <a:cs typeface="Arial"/>
              <a:sym typeface="Arial"/>
            </a:endParaRPr>
          </a:p>
          <a:p>
            <a:pPr indent="-158750" lvl="0" marL="28575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Station names are loaded from a station CSV file. During testing, the chatbot sometimes selected non-passenger railway locations, such as sidings, or chose the wrong station when a name had multiple matches. For example, a user typing Oxford could be matched with Manchester Oxford Road.</a:t>
            </a:r>
            <a:endParaRPr b="0" i="0" sz="2000" u="none" cap="none" strike="noStrike">
              <a:solidFill>
                <a:srgbClr val="000000"/>
              </a:solidFill>
              <a:latin typeface="Arial"/>
              <a:ea typeface="Arial"/>
              <a:cs typeface="Arial"/>
              <a:sym typeface="Arial"/>
            </a:endParaRPr>
          </a:p>
          <a:p>
            <a:pPr indent="-158750" lvl="0" marL="28575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To improve this, station matching was refined. Exact station names are now prioritised over partial matches. Non-passenger locations such as sidings, depots, and internal rail locations are filtered out. This makes the chatbot more suitable for passenger ticket searches.</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70C0"/>
                </a:solidFill>
                <a:latin typeface="Arial"/>
                <a:ea typeface="Arial"/>
                <a:cs typeface="Arial"/>
                <a:sym typeface="Arial"/>
              </a:rPr>
              <a:t>Return Ticket Support : Handling Outward and Return Journeys</a:t>
            </a:r>
            <a:endParaRPr b="0" i="0" sz="2000" u="none" cap="none" strike="noStrike">
              <a:solidFill>
                <a:srgbClr val="0070C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The chatbot was extended to support return tickets. If the user says they want a return ticket, the bot asks for the return date and time. The final response then displays separate outward and return journey sections.</a:t>
            </a:r>
            <a:endParaRPr b="0" i="0" sz="2000" u="none" cap="none" strike="noStrike">
              <a:solidFill>
                <a:srgbClr val="000000"/>
              </a:solidFill>
              <a:latin typeface="Arial"/>
              <a:ea typeface="Arial"/>
              <a:cs typeface="Arial"/>
              <a:sym typeface="Arial"/>
            </a:endParaRPr>
          </a:p>
          <a:p>
            <a:pPr indent="-158750" lvl="0" marL="28575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This makes the chatbot match the task requirements more closely, because the task example includes journeys where the passenger travels out and comes back later. The chatbot now collects both outward and return journey details before presenting the ticket result.</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2000" u="none" cap="none" strike="noStrike">
              <a:solidFill>
                <a:srgbClr val="82CAEB"/>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1900" u="none" cap="none" strike="noStrike">
              <a:solidFill>
                <a:srgbClr val="000000"/>
              </a:solidFill>
              <a:latin typeface="Arial"/>
              <a:ea typeface="Arial"/>
              <a:cs typeface="Arial"/>
              <a:sym typeface="Arial"/>
            </a:endParaRPr>
          </a:p>
        </p:txBody>
      </p:sp>
      <p:sp>
        <p:nvSpPr>
          <p:cNvPr id="107" name="Google Shape;107;p7"/>
          <p:cNvSpPr/>
          <p:nvPr/>
        </p:nvSpPr>
        <p:spPr>
          <a:xfrm flipH="1" rot="10800000">
            <a:off x="479425" y="4220845"/>
            <a:ext cx="6800215"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8"/>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102D3A"/>
              </a:solidFill>
              <a:latin typeface="Arial"/>
              <a:ea typeface="Arial"/>
              <a:cs typeface="Arial"/>
              <a:sym typeface="Arial"/>
            </a:endParaRPr>
          </a:p>
        </p:txBody>
      </p:sp>
      <p:sp>
        <p:nvSpPr>
          <p:cNvPr id="114" name="Google Shape;114;p8"/>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8"/>
          <p:cNvSpPr/>
          <p:nvPr/>
        </p:nvSpPr>
        <p:spPr>
          <a:xfrm>
            <a:off x="552450" y="6438900"/>
            <a:ext cx="11087100" cy="9600"/>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8"/>
          <p:cNvSpPr/>
          <p:nvPr/>
        </p:nvSpPr>
        <p:spPr>
          <a:xfrm>
            <a:off x="11239500" y="6534150"/>
            <a:ext cx="400200" cy="190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825"/>
              <a:buFont typeface="Arial"/>
              <a:buNone/>
            </a:pPr>
            <a:r>
              <a:t/>
            </a:r>
            <a:endParaRPr b="1" i="0" sz="825" u="none" cap="none" strike="noStrike">
              <a:solidFill>
                <a:srgbClr val="087E83"/>
              </a:solidFill>
              <a:latin typeface="Arial"/>
              <a:ea typeface="Arial"/>
              <a:cs typeface="Arial"/>
              <a:sym typeface="Arial"/>
            </a:endParaRPr>
          </a:p>
        </p:txBody>
      </p:sp>
      <p:sp>
        <p:nvSpPr>
          <p:cNvPr id="117" name="Google Shape;117;p8"/>
          <p:cNvSpPr/>
          <p:nvPr/>
        </p:nvSpPr>
        <p:spPr>
          <a:xfrm flipH="1" rot="10800000">
            <a:off x="263525" y="836295"/>
            <a:ext cx="7794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8"/>
          <p:cNvSpPr/>
          <p:nvPr/>
        </p:nvSpPr>
        <p:spPr>
          <a:xfrm>
            <a:off x="623470" y="4868975"/>
            <a:ext cx="5429400" cy="247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t/>
            </a:r>
            <a:endParaRPr b="1" i="0" sz="1275" u="none" cap="none" strike="noStrike">
              <a:solidFill>
                <a:srgbClr val="102D3A"/>
              </a:solidFill>
              <a:latin typeface="Arial"/>
              <a:ea typeface="Arial"/>
              <a:cs typeface="Arial"/>
              <a:sym typeface="Arial"/>
            </a:endParaRPr>
          </a:p>
        </p:txBody>
      </p:sp>
      <p:sp>
        <p:nvSpPr>
          <p:cNvPr id="119" name="Google Shape;119;p8"/>
          <p:cNvSpPr/>
          <p:nvPr/>
        </p:nvSpPr>
        <p:spPr>
          <a:xfrm>
            <a:off x="6518275" y="852805"/>
            <a:ext cx="2857500" cy="764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87E83"/>
              </a:solidFill>
              <a:latin typeface="Arial"/>
              <a:ea typeface="Arial"/>
              <a:cs typeface="Arial"/>
              <a:sym typeface="Arial"/>
            </a:endParaRPr>
          </a:p>
        </p:txBody>
      </p:sp>
      <p:sp>
        <p:nvSpPr>
          <p:cNvPr id="120" name="Google Shape;120;p8"/>
          <p:cNvSpPr txBox="1"/>
          <p:nvPr/>
        </p:nvSpPr>
        <p:spPr>
          <a:xfrm>
            <a:off x="209550" y="386723"/>
            <a:ext cx="11430000" cy="47301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70C0"/>
                </a:solidFill>
                <a:latin typeface="Arial"/>
                <a:ea typeface="Arial"/>
                <a:cs typeface="Arial"/>
                <a:sym typeface="Arial"/>
              </a:rPr>
              <a:t>Error Handling and Fallbacks : Making the Chatbot More Reliable</a:t>
            </a:r>
            <a:endParaRPr b="1" i="0" sz="2000" u="none" cap="none" strike="noStrike">
              <a:solidFill>
                <a:srgbClr val="0070C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Several fallback mechanisms were added to make the chatbot more reliable. If the API does not return platform details, the chatbot displays “Platform: To be announced” instead of showing fake platform numbers. If the API does not return a price, the chatbot uses the fallback fare. If the user enters an invalid station, the chatbot asks for a valid UK station name.</a:t>
            </a:r>
            <a:endParaRPr b="0" i="0" sz="2000" u="none" cap="none" strike="noStrike">
              <a:solidFill>
                <a:srgbClr val="000000"/>
              </a:solidFill>
              <a:latin typeface="Arial"/>
              <a:ea typeface="Arial"/>
              <a:cs typeface="Arial"/>
              <a:sym typeface="Arial"/>
            </a:endParaRPr>
          </a:p>
          <a:p>
            <a:pPr indent="-158750" lvl="0" marL="28575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These improvements make the chatbot more professional because it avoids displaying misleading information where possible.</a:t>
            </a:r>
            <a:endParaRPr b="0" i="0" sz="2000" u="none" cap="none" strike="noStrike">
              <a:solidFill>
                <a:srgbClr val="000000"/>
              </a:solidFill>
              <a:latin typeface="Arial"/>
              <a:ea typeface="Arial"/>
              <a:cs typeface="Arial"/>
              <a:sym typeface="Arial"/>
            </a:endParaRPr>
          </a:p>
          <a:p>
            <a:pPr indent="-158750" lvl="0" marL="28575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70C0"/>
                </a:solidFill>
                <a:latin typeface="Arial"/>
                <a:ea typeface="Arial"/>
                <a:cs typeface="Arial"/>
                <a:sym typeface="Arial"/>
              </a:rPr>
              <a:t> Testing and Improvements : How the Chatbot Was Tested</a:t>
            </a:r>
            <a:endParaRPr b="0" i="0" sz="2000" u="none" cap="none" strike="noStrike">
              <a:solidFill>
                <a:srgbClr val="0070C0"/>
              </a:solidFill>
              <a:latin typeface="Arial"/>
              <a:ea typeface="Arial"/>
              <a:cs typeface="Arial"/>
              <a:sym typeface="Arial"/>
            </a:endParaRPr>
          </a:p>
          <a:p>
            <a:pPr indent="-158750" lvl="0" marL="28575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The chatbot was tested using common journey examples such as Norwich to London, Norwich to Oxford, and return journeys. Railcard scenarios were also tested to confirm that discounts were applied correctly.</a:t>
            </a:r>
            <a:endParaRPr b="0" i="0" sz="2000" u="none" cap="none" strike="noStrike">
              <a:solidFill>
                <a:srgbClr val="000000"/>
              </a:solidFill>
              <a:latin typeface="Arial"/>
              <a:ea typeface="Arial"/>
              <a:cs typeface="Arial"/>
              <a:sym typeface="Arial"/>
            </a:endParaRPr>
          </a:p>
          <a:p>
            <a:pPr indent="-158750" lvl="0" marL="28575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Testing helped identify several issues, including incorrect railcard parsing, wrong station matching, fixed mock platform numbers, and missing return journey handling. Each issue was fixed step by step, improving the chatbot’s accuracy and usability.</a:t>
            </a:r>
            <a:endParaRPr b="0" i="0" sz="1900" u="none" cap="none" strike="noStrike">
              <a:solidFill>
                <a:srgbClr val="000000"/>
              </a:solidFill>
              <a:latin typeface="Arial"/>
              <a:ea typeface="Arial"/>
              <a:cs typeface="Arial"/>
              <a:sym typeface="Arial"/>
            </a:endParaRPr>
          </a:p>
        </p:txBody>
      </p:sp>
      <p:sp>
        <p:nvSpPr>
          <p:cNvPr id="121" name="Google Shape;121;p8"/>
          <p:cNvSpPr/>
          <p:nvPr/>
        </p:nvSpPr>
        <p:spPr>
          <a:xfrm flipH="1" rot="10800000">
            <a:off x="335280" y="3860800"/>
            <a:ext cx="68001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9"/>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102D3A"/>
              </a:solidFill>
              <a:latin typeface="Arial"/>
              <a:ea typeface="Arial"/>
              <a:cs typeface="Arial"/>
              <a:sym typeface="Arial"/>
            </a:endParaRPr>
          </a:p>
        </p:txBody>
      </p:sp>
      <p:sp>
        <p:nvSpPr>
          <p:cNvPr id="128" name="Google Shape;128;p9"/>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9"/>
          <p:cNvSpPr/>
          <p:nvPr/>
        </p:nvSpPr>
        <p:spPr>
          <a:xfrm>
            <a:off x="552450" y="6438900"/>
            <a:ext cx="11087100" cy="9525"/>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9"/>
          <p:cNvSpPr/>
          <p:nvPr/>
        </p:nvSpPr>
        <p:spPr>
          <a:xfrm>
            <a:off x="11239500" y="6534150"/>
            <a:ext cx="400050" cy="190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825"/>
              <a:buFont typeface="Arial"/>
              <a:buNone/>
            </a:pPr>
            <a:r>
              <a:t/>
            </a:r>
            <a:endParaRPr b="1" i="0" sz="825" u="none" cap="none" strike="noStrike">
              <a:solidFill>
                <a:srgbClr val="087E83"/>
              </a:solidFill>
              <a:latin typeface="Arial"/>
              <a:ea typeface="Arial"/>
              <a:cs typeface="Arial"/>
              <a:sym typeface="Arial"/>
            </a:endParaRPr>
          </a:p>
        </p:txBody>
      </p:sp>
      <p:sp>
        <p:nvSpPr>
          <p:cNvPr id="131" name="Google Shape;131;p9"/>
          <p:cNvSpPr/>
          <p:nvPr/>
        </p:nvSpPr>
        <p:spPr>
          <a:xfrm flipH="1" rot="10800000">
            <a:off x="263525" y="836295"/>
            <a:ext cx="779399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9"/>
          <p:cNvSpPr/>
          <p:nvPr/>
        </p:nvSpPr>
        <p:spPr>
          <a:xfrm>
            <a:off x="623470" y="4868975"/>
            <a:ext cx="5429400" cy="247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t/>
            </a:r>
            <a:endParaRPr b="1" i="0" sz="1275" u="none" cap="none" strike="noStrike">
              <a:solidFill>
                <a:srgbClr val="102D3A"/>
              </a:solidFill>
              <a:latin typeface="Arial"/>
              <a:ea typeface="Arial"/>
              <a:cs typeface="Arial"/>
              <a:sym typeface="Arial"/>
            </a:endParaRPr>
          </a:p>
        </p:txBody>
      </p:sp>
      <p:sp>
        <p:nvSpPr>
          <p:cNvPr id="133" name="Google Shape;133;p9"/>
          <p:cNvSpPr/>
          <p:nvPr/>
        </p:nvSpPr>
        <p:spPr>
          <a:xfrm>
            <a:off x="6518275" y="852805"/>
            <a:ext cx="2857500" cy="76454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87E83"/>
              </a:solidFill>
              <a:latin typeface="Arial"/>
              <a:ea typeface="Arial"/>
              <a:cs typeface="Arial"/>
              <a:sym typeface="Arial"/>
            </a:endParaRPr>
          </a:p>
        </p:txBody>
      </p:sp>
      <p:sp>
        <p:nvSpPr>
          <p:cNvPr id="134" name="Google Shape;134;p9"/>
          <p:cNvSpPr txBox="1"/>
          <p:nvPr/>
        </p:nvSpPr>
        <p:spPr>
          <a:xfrm>
            <a:off x="209550" y="386722"/>
            <a:ext cx="11207100" cy="44823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70C0"/>
                </a:solidFill>
                <a:latin typeface="Arial"/>
                <a:ea typeface="Arial"/>
                <a:cs typeface="Arial"/>
                <a:sym typeface="Arial"/>
              </a:rPr>
              <a:t>Final Outcome : What the Chatbot Can Do Now</a:t>
            </a:r>
            <a:endParaRPr b="1" i="0" sz="2000" u="none" cap="none" strike="noStrike">
              <a:solidFill>
                <a:srgbClr val="0070C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The final chatbot can collect journey details through conversation, validate station names, support single and return tickets, apply railcard discounts, use API journey data when available, and provide a ticket result with a booking link.</a:t>
            </a:r>
            <a:endParaRPr b="0" i="0" sz="2000" u="none" cap="none" strike="noStrike">
              <a:solidFill>
                <a:srgbClr val="000000"/>
              </a:solidFill>
              <a:latin typeface="Arial"/>
              <a:ea typeface="Arial"/>
              <a:cs typeface="Arial"/>
              <a:sym typeface="Arial"/>
            </a:endParaRPr>
          </a:p>
          <a:p>
            <a:pPr indent="-158750" lvl="0" marL="28575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Although some fallback logic is still used when API data is incomplete, the chatbot meets the main objective of guiding the user through the ticket search process and presenting a suitable train ticket option.</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70C0"/>
                </a:solidFill>
                <a:latin typeface="Arial"/>
                <a:ea typeface="Arial"/>
                <a:cs typeface="Arial"/>
                <a:sym typeface="Arial"/>
              </a:rPr>
              <a:t>Limitations : Current System Limitations</a:t>
            </a:r>
            <a:endParaRPr b="0" i="0" sz="2000" u="none" cap="none" strike="noStrike">
              <a:solidFill>
                <a:srgbClr val="0070C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The main limitation is that the API does not always return complete live fare, platform, or duration information. Because of this, fallback data is sometimes used. The chatbot also currently presents one ticket option rather than comparing multiple live ticket providers.</a:t>
            </a:r>
            <a:endParaRPr b="0" i="0" sz="2000" u="none" cap="none" strike="noStrike">
              <a:solidFill>
                <a:srgbClr val="000000"/>
              </a:solidFill>
              <a:latin typeface="Arial"/>
              <a:ea typeface="Arial"/>
              <a:cs typeface="Arial"/>
              <a:sym typeface="Arial"/>
            </a:endParaRPr>
          </a:p>
          <a:p>
            <a:pPr indent="-158750" lvl="0" marL="28575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In a future version, the chatbot could be improved by showing multiple ticket options, generating more accurate booking links, supporting before or after departure preferences, and improving real-time journey data handling.</a:t>
            </a:r>
            <a:endParaRPr b="0" i="0" sz="1900" u="none" cap="none" strike="noStrike">
              <a:solidFill>
                <a:srgbClr val="000000"/>
              </a:solidFill>
              <a:latin typeface="Arial"/>
              <a:ea typeface="Arial"/>
              <a:cs typeface="Arial"/>
              <a:sym typeface="Arial"/>
            </a:endParaRPr>
          </a:p>
        </p:txBody>
      </p:sp>
      <p:sp>
        <p:nvSpPr>
          <p:cNvPr id="135" name="Google Shape;135;p9"/>
          <p:cNvSpPr/>
          <p:nvPr/>
        </p:nvSpPr>
        <p:spPr>
          <a:xfrm flipH="1" rot="10800000">
            <a:off x="335280" y="3836035"/>
            <a:ext cx="52451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0"/>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102D3A"/>
              </a:solidFill>
              <a:latin typeface="Arial"/>
              <a:ea typeface="Arial"/>
              <a:cs typeface="Arial"/>
              <a:sym typeface="Arial"/>
            </a:endParaRPr>
          </a:p>
        </p:txBody>
      </p:sp>
      <p:sp>
        <p:nvSpPr>
          <p:cNvPr id="142" name="Google Shape;142;p10"/>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10"/>
          <p:cNvSpPr/>
          <p:nvPr/>
        </p:nvSpPr>
        <p:spPr>
          <a:xfrm>
            <a:off x="552450" y="6438900"/>
            <a:ext cx="11087100" cy="9525"/>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10"/>
          <p:cNvSpPr/>
          <p:nvPr/>
        </p:nvSpPr>
        <p:spPr>
          <a:xfrm>
            <a:off x="623470" y="4868975"/>
            <a:ext cx="5429400" cy="247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t/>
            </a:r>
            <a:endParaRPr b="1" i="0" sz="1275" u="none" cap="none" strike="noStrike">
              <a:solidFill>
                <a:srgbClr val="102D3A"/>
              </a:solidFill>
              <a:latin typeface="Arial"/>
              <a:ea typeface="Arial"/>
              <a:cs typeface="Arial"/>
              <a:sym typeface="Arial"/>
            </a:endParaRPr>
          </a:p>
        </p:txBody>
      </p:sp>
      <p:sp>
        <p:nvSpPr>
          <p:cNvPr id="145" name="Google Shape;145;p10"/>
          <p:cNvSpPr/>
          <p:nvPr/>
        </p:nvSpPr>
        <p:spPr>
          <a:xfrm>
            <a:off x="6518275" y="852805"/>
            <a:ext cx="2857500" cy="76454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87E83"/>
              </a:solidFill>
              <a:latin typeface="Arial"/>
              <a:ea typeface="Arial"/>
              <a:cs typeface="Arial"/>
              <a:sym typeface="Arial"/>
            </a:endParaRPr>
          </a:p>
        </p:txBody>
      </p:sp>
      <p:sp>
        <p:nvSpPr>
          <p:cNvPr id="146" name="Google Shape;146;p10"/>
          <p:cNvSpPr txBox="1"/>
          <p:nvPr/>
        </p:nvSpPr>
        <p:spPr>
          <a:xfrm>
            <a:off x="209550" y="584835"/>
            <a:ext cx="11640185" cy="6012815"/>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 </a:t>
            </a:r>
            <a:r>
              <a:rPr b="0" i="0" lang="en-US" sz="2200" u="none" cap="none" strike="noStrike">
                <a:solidFill>
                  <a:srgbClr val="000000"/>
                </a:solidFill>
                <a:latin typeface="Arial"/>
                <a:ea typeface="Arial"/>
                <a:cs typeface="Arial"/>
                <a:sym typeface="Arial"/>
              </a:rPr>
              <a:t>  </a:t>
            </a:r>
            <a:r>
              <a:rPr b="0" i="0" lang="en-US" sz="2200" u="none" cap="none" strike="noStrike">
                <a:solidFill>
                  <a:srgbClr val="1F5C99"/>
                </a:solidFill>
                <a:latin typeface="Arial"/>
                <a:ea typeface="Arial"/>
                <a:cs typeface="Arial"/>
                <a:sym typeface="Arial"/>
              </a:rPr>
              <a:t>OUTPUT</a:t>
            </a:r>
            <a:endParaRPr b="0" i="0" sz="2200" u="none" cap="none" strike="noStrike">
              <a:solidFill>
                <a:srgbClr val="1F5C99"/>
              </a:solidFill>
              <a:latin typeface="Arial"/>
              <a:ea typeface="Arial"/>
              <a:cs typeface="Arial"/>
              <a:sym typeface="Arial"/>
            </a:endParaRPr>
          </a:p>
        </p:txBody>
      </p:sp>
      <p:sp>
        <p:nvSpPr>
          <p:cNvPr id="147" name="Google Shape;147;p10"/>
          <p:cNvSpPr/>
          <p:nvPr/>
        </p:nvSpPr>
        <p:spPr>
          <a:xfrm flipH="1" rot="10800000">
            <a:off x="407035" y="1076960"/>
            <a:ext cx="3105785"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8" name="Google Shape;148;p10"/>
          <p:cNvPicPr preferRelativeResize="0"/>
          <p:nvPr/>
        </p:nvPicPr>
        <p:blipFill rotWithShape="1">
          <a:blip r:embed="rId3">
            <a:alphaModFix/>
          </a:blip>
          <a:srcRect b="0" l="0" r="0" t="0"/>
          <a:stretch/>
        </p:blipFill>
        <p:spPr>
          <a:xfrm>
            <a:off x="227330" y="1149350"/>
            <a:ext cx="6381115" cy="4843145"/>
          </a:xfrm>
          <a:prstGeom prst="rect">
            <a:avLst/>
          </a:prstGeom>
          <a:noFill/>
          <a:ln>
            <a:noFill/>
          </a:ln>
        </p:spPr>
      </p:pic>
      <p:pic>
        <p:nvPicPr>
          <p:cNvPr id="149" name="Google Shape;149;p10"/>
          <p:cNvPicPr preferRelativeResize="0"/>
          <p:nvPr/>
        </p:nvPicPr>
        <p:blipFill rotWithShape="1">
          <a:blip r:embed="rId4">
            <a:alphaModFix/>
          </a:blip>
          <a:srcRect b="0" l="0" r="0" t="0"/>
          <a:stretch/>
        </p:blipFill>
        <p:spPr>
          <a:xfrm>
            <a:off x="6350635" y="1125220"/>
            <a:ext cx="5695950" cy="486664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1"/>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102D3A"/>
              </a:solidFill>
              <a:latin typeface="Arial"/>
              <a:ea typeface="Arial"/>
              <a:cs typeface="Arial"/>
              <a:sym typeface="Arial"/>
            </a:endParaRPr>
          </a:p>
        </p:txBody>
      </p:sp>
      <p:sp>
        <p:nvSpPr>
          <p:cNvPr id="156" name="Google Shape;156;p11"/>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11"/>
          <p:cNvSpPr/>
          <p:nvPr/>
        </p:nvSpPr>
        <p:spPr>
          <a:xfrm>
            <a:off x="552450" y="6438900"/>
            <a:ext cx="11087100" cy="9600"/>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1"/>
          <p:cNvSpPr/>
          <p:nvPr/>
        </p:nvSpPr>
        <p:spPr>
          <a:xfrm>
            <a:off x="623470" y="4868975"/>
            <a:ext cx="5429400" cy="247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t/>
            </a:r>
            <a:endParaRPr b="1" i="0" sz="1275" u="none" cap="none" strike="noStrike">
              <a:solidFill>
                <a:srgbClr val="102D3A"/>
              </a:solidFill>
              <a:latin typeface="Arial"/>
              <a:ea typeface="Arial"/>
              <a:cs typeface="Arial"/>
              <a:sym typeface="Arial"/>
            </a:endParaRPr>
          </a:p>
        </p:txBody>
      </p:sp>
      <p:sp>
        <p:nvSpPr>
          <p:cNvPr id="159" name="Google Shape;159;p11"/>
          <p:cNvSpPr/>
          <p:nvPr/>
        </p:nvSpPr>
        <p:spPr>
          <a:xfrm>
            <a:off x="6518275" y="852805"/>
            <a:ext cx="2857500" cy="764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87E83"/>
              </a:solidFill>
              <a:latin typeface="Arial"/>
              <a:ea typeface="Arial"/>
              <a:cs typeface="Arial"/>
              <a:sym typeface="Arial"/>
            </a:endParaRPr>
          </a:p>
        </p:txBody>
      </p:sp>
      <p:sp>
        <p:nvSpPr>
          <p:cNvPr id="160" name="Google Shape;160;p11"/>
          <p:cNvSpPr txBox="1"/>
          <p:nvPr/>
        </p:nvSpPr>
        <p:spPr>
          <a:xfrm>
            <a:off x="209550" y="584835"/>
            <a:ext cx="11640300" cy="60129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 </a:t>
            </a:r>
            <a:r>
              <a:rPr b="0" i="0" lang="en-US" sz="2200" u="none" cap="none" strike="noStrike">
                <a:solidFill>
                  <a:srgbClr val="000000"/>
                </a:solidFill>
                <a:latin typeface="Arial"/>
                <a:ea typeface="Arial"/>
                <a:cs typeface="Arial"/>
                <a:sym typeface="Arial"/>
              </a:rPr>
              <a:t>  </a:t>
            </a:r>
            <a:r>
              <a:rPr b="0" i="0" lang="en-US" sz="2200" u="none" cap="none" strike="noStrike">
                <a:solidFill>
                  <a:srgbClr val="1F5C99"/>
                </a:solidFill>
                <a:latin typeface="Arial"/>
                <a:ea typeface="Arial"/>
                <a:cs typeface="Arial"/>
                <a:sym typeface="Arial"/>
              </a:rPr>
              <a:t>OUTPUT</a:t>
            </a:r>
            <a:endParaRPr b="0" i="0" sz="2200" u="none" cap="none" strike="noStrike">
              <a:solidFill>
                <a:srgbClr val="1F5C99"/>
              </a:solidFill>
              <a:latin typeface="Arial"/>
              <a:ea typeface="Arial"/>
              <a:cs typeface="Arial"/>
              <a:sym typeface="Arial"/>
            </a:endParaRPr>
          </a:p>
        </p:txBody>
      </p:sp>
      <p:sp>
        <p:nvSpPr>
          <p:cNvPr id="161" name="Google Shape;161;p11"/>
          <p:cNvSpPr/>
          <p:nvPr/>
        </p:nvSpPr>
        <p:spPr>
          <a:xfrm flipH="1" rot="10800000">
            <a:off x="407035" y="1076960"/>
            <a:ext cx="31059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2" name="Google Shape;162;p11"/>
          <p:cNvPicPr preferRelativeResize="0"/>
          <p:nvPr/>
        </p:nvPicPr>
        <p:blipFill rotWithShape="1">
          <a:blip r:embed="rId3">
            <a:alphaModFix/>
          </a:blip>
          <a:srcRect b="0" l="0" r="0" t="0"/>
          <a:stretch/>
        </p:blipFill>
        <p:spPr>
          <a:xfrm>
            <a:off x="20955" y="1056640"/>
            <a:ext cx="6217285" cy="4935220"/>
          </a:xfrm>
          <a:prstGeom prst="rect">
            <a:avLst/>
          </a:prstGeom>
          <a:noFill/>
          <a:ln>
            <a:noFill/>
          </a:ln>
        </p:spPr>
      </p:pic>
      <p:pic>
        <p:nvPicPr>
          <p:cNvPr id="163" name="Google Shape;163;p11"/>
          <p:cNvPicPr preferRelativeResize="0"/>
          <p:nvPr/>
        </p:nvPicPr>
        <p:blipFill rotWithShape="1">
          <a:blip r:embed="rId4">
            <a:alphaModFix/>
          </a:blip>
          <a:srcRect b="0" l="0" r="0" t="0"/>
          <a:stretch/>
        </p:blipFill>
        <p:spPr>
          <a:xfrm>
            <a:off x="5926455" y="1057275"/>
            <a:ext cx="6262370" cy="497014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2"/>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2"/>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2"/>
          <p:cNvSpPr/>
          <p:nvPr/>
        </p:nvSpPr>
        <p:spPr>
          <a:xfrm>
            <a:off x="552450" y="6438900"/>
            <a:ext cx="11087100" cy="9525"/>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2"/>
          <p:cNvSpPr/>
          <p:nvPr/>
        </p:nvSpPr>
        <p:spPr>
          <a:xfrm>
            <a:off x="552450" y="1000125"/>
            <a:ext cx="4042500" cy="14193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087E83"/>
                </a:solidFill>
              </a:rPr>
              <a:t>Task 2: Improving Customer Service</a:t>
            </a:r>
            <a:endParaRPr b="1" i="0" sz="3600" u="none" cap="none" strike="noStrike">
              <a:solidFill>
                <a:srgbClr val="087E83"/>
              </a:solidFill>
            </a:endParaRPr>
          </a:p>
        </p:txBody>
      </p:sp>
      <p:sp>
        <p:nvSpPr>
          <p:cNvPr id="173" name="Google Shape;173;p12"/>
          <p:cNvSpPr/>
          <p:nvPr/>
        </p:nvSpPr>
        <p:spPr>
          <a:xfrm>
            <a:off x="552450" y="2208600"/>
            <a:ext cx="5883000" cy="7431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125"/>
              <a:buFont typeface="Arial"/>
              <a:buNone/>
            </a:pPr>
            <a:r>
              <a:t/>
            </a:r>
            <a:endParaRPr b="1" i="0" sz="4125" u="none" cap="none" strike="noStrike">
              <a:solidFill>
                <a:srgbClr val="102D3A"/>
              </a:solidFill>
              <a:latin typeface="Play"/>
              <a:ea typeface="Play"/>
              <a:cs typeface="Play"/>
              <a:sym typeface="Play"/>
            </a:endParaRPr>
          </a:p>
        </p:txBody>
      </p:sp>
      <p:sp>
        <p:nvSpPr>
          <p:cNvPr id="174" name="Google Shape;174;p12"/>
          <p:cNvSpPr/>
          <p:nvPr/>
        </p:nvSpPr>
        <p:spPr>
          <a:xfrm>
            <a:off x="469800" y="2419425"/>
            <a:ext cx="6048300" cy="14193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600"/>
              <a:buFont typeface="Arial"/>
              <a:buNone/>
            </a:pPr>
            <a:r>
              <a:rPr b="0" i="0" lang="en-US" sz="1800" u="none" cap="none" strike="noStrike">
                <a:solidFill>
                  <a:schemeClr val="dk1"/>
                </a:solidFill>
                <a:latin typeface="Arial"/>
                <a:ea typeface="Arial"/>
                <a:cs typeface="Arial"/>
                <a:sym typeface="Arial"/>
              </a:rPr>
              <a:t>Predict the estimated arrival time of a delayed train</a:t>
            </a:r>
            <a:endParaRPr b="0" i="0" sz="1800" u="none" cap="none" strike="noStrike">
              <a:solidFill>
                <a:schemeClr val="dk1"/>
              </a:solidFill>
              <a:latin typeface="Arial"/>
              <a:ea typeface="Arial"/>
              <a:cs typeface="Arial"/>
              <a:sym typeface="Arial"/>
            </a:endParaRPr>
          </a:p>
        </p:txBody>
      </p:sp>
      <p:sp>
        <p:nvSpPr>
          <p:cNvPr id="175" name="Google Shape;175;p12"/>
          <p:cNvSpPr/>
          <p:nvPr/>
        </p:nvSpPr>
        <p:spPr>
          <a:xfrm>
            <a:off x="469800" y="2821475"/>
            <a:ext cx="5313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2"/>
          <p:cNvSpPr/>
          <p:nvPr/>
        </p:nvSpPr>
        <p:spPr>
          <a:xfrm>
            <a:off x="6249875" y="582550"/>
            <a:ext cx="5132400" cy="5484900"/>
          </a:xfrm>
          <a:prstGeom prst="rect">
            <a:avLst/>
          </a:prstGeom>
          <a:solidFill>
            <a:srgbClr val="FFFFFF"/>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2"/>
          <p:cNvSpPr/>
          <p:nvPr/>
        </p:nvSpPr>
        <p:spPr>
          <a:xfrm>
            <a:off x="6518100" y="852519"/>
            <a:ext cx="2857500" cy="4767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87E83"/>
                </a:solidFill>
                <a:latin typeface="Arial"/>
                <a:ea typeface="Arial"/>
                <a:cs typeface="Arial"/>
                <a:sym typeface="Arial"/>
              </a:rPr>
              <a:t>PURPOSE</a:t>
            </a:r>
            <a:endParaRPr b="0" i="0" sz="1800" u="none" cap="none" strike="noStrike">
              <a:solidFill>
                <a:srgbClr val="000000"/>
              </a:solidFill>
              <a:latin typeface="Arial"/>
              <a:ea typeface="Arial"/>
              <a:cs typeface="Arial"/>
              <a:sym typeface="Arial"/>
            </a:endParaRPr>
          </a:p>
        </p:txBody>
      </p:sp>
      <p:sp>
        <p:nvSpPr>
          <p:cNvPr id="178" name="Google Shape;178;p12"/>
          <p:cNvSpPr/>
          <p:nvPr/>
        </p:nvSpPr>
        <p:spPr>
          <a:xfrm>
            <a:off x="7867650" y="4467225"/>
            <a:ext cx="3105150" cy="7429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2"/>
          <p:cNvSpPr txBox="1"/>
          <p:nvPr/>
        </p:nvSpPr>
        <p:spPr>
          <a:xfrm>
            <a:off x="6518100" y="1329225"/>
            <a:ext cx="4581600" cy="4431600"/>
          </a:xfrm>
          <a:prstGeom prst="rect">
            <a:avLst/>
          </a:prstGeom>
          <a:noFill/>
          <a:ln>
            <a:noFill/>
          </a:ln>
        </p:spPr>
        <p:txBody>
          <a:bodyPr anchorCtr="0" anchor="t" bIns="91425" lIns="91425" spcFirstLastPara="1" rIns="91425" wrap="square" tIns="91425">
            <a:noAutofit/>
          </a:bodyPr>
          <a:lstStyle/>
          <a:p>
            <a:pPr indent="-361950" lvl="0" marL="457200" marR="0" rtl="0" algn="l">
              <a:lnSpc>
                <a:spcPct val="115000"/>
              </a:lnSpc>
              <a:spcBef>
                <a:spcPts val="0"/>
              </a:spcBef>
              <a:spcAft>
                <a:spcPts val="0"/>
              </a:spcAft>
              <a:buClr>
                <a:srgbClr val="000000"/>
              </a:buClr>
              <a:buSzPts val="2100"/>
              <a:buChar char="➔"/>
            </a:pPr>
            <a:r>
              <a:rPr i="0" lang="en-US" sz="2100" u="none" cap="none" strike="noStrike">
                <a:solidFill>
                  <a:srgbClr val="000000"/>
                </a:solidFill>
              </a:rPr>
              <a:t>Goal: predict the estimated arrival time of a delayed train</a:t>
            </a:r>
            <a:endParaRPr i="0" sz="2100" u="none" cap="none" strike="noStrike">
              <a:solidFill>
                <a:srgbClr val="000000"/>
              </a:solidFill>
            </a:endParaRPr>
          </a:p>
          <a:p>
            <a:pPr indent="-361950" lvl="0" marL="457200" marR="0" rtl="0" algn="l">
              <a:lnSpc>
                <a:spcPct val="115000"/>
              </a:lnSpc>
              <a:spcBef>
                <a:spcPts val="0"/>
              </a:spcBef>
              <a:spcAft>
                <a:spcPts val="0"/>
              </a:spcAft>
              <a:buClr>
                <a:srgbClr val="000000"/>
              </a:buClr>
              <a:buSzPts val="2100"/>
              <a:buChar char="➔"/>
            </a:pPr>
            <a:r>
              <a:rPr i="0" lang="en-US" sz="2100" u="none" cap="none" strike="noStrike">
                <a:solidFill>
                  <a:srgbClr val="000000"/>
                </a:solidFill>
              </a:rPr>
              <a:t>Scenario: passenger on Weymouth to London Waterloo (South Western Railway) service</a:t>
            </a:r>
            <a:endParaRPr i="0" sz="2100" u="none" cap="none" strike="noStrike">
              <a:solidFill>
                <a:srgbClr val="000000"/>
              </a:solidFill>
            </a:endParaRPr>
          </a:p>
          <a:p>
            <a:pPr indent="-361950" lvl="0" marL="457200" marR="0" rtl="0" algn="l">
              <a:lnSpc>
                <a:spcPct val="115000"/>
              </a:lnSpc>
              <a:spcBef>
                <a:spcPts val="0"/>
              </a:spcBef>
              <a:spcAft>
                <a:spcPts val="0"/>
              </a:spcAft>
              <a:buClr>
                <a:srgbClr val="000000"/>
              </a:buClr>
              <a:buSzPts val="2100"/>
              <a:buChar char="➔"/>
            </a:pPr>
            <a:r>
              <a:rPr i="0" lang="en-US" sz="2100" u="none" cap="none" strike="noStrike">
                <a:solidFill>
                  <a:srgbClr val="000000"/>
                </a:solidFill>
              </a:rPr>
              <a:t>Train is delayed at an intermediate station (Southampton)</a:t>
            </a:r>
            <a:endParaRPr i="0" sz="2100" u="none" cap="none" strike="noStrike">
              <a:solidFill>
                <a:srgbClr val="000000"/>
              </a:solidFill>
            </a:endParaRPr>
          </a:p>
          <a:p>
            <a:pPr indent="-361950" lvl="0" marL="457200" marR="0" rtl="0" algn="l">
              <a:lnSpc>
                <a:spcPct val="115000"/>
              </a:lnSpc>
              <a:spcBef>
                <a:spcPts val="0"/>
              </a:spcBef>
              <a:spcAft>
                <a:spcPts val="0"/>
              </a:spcAft>
              <a:buClr>
                <a:srgbClr val="000000"/>
              </a:buClr>
              <a:buSzPts val="2100"/>
              <a:buChar char="➔"/>
            </a:pPr>
            <a:r>
              <a:rPr i="0" lang="en-US" sz="2100" u="none" cap="none" strike="noStrike">
                <a:solidFill>
                  <a:srgbClr val="000000"/>
                </a:solidFill>
              </a:rPr>
              <a:t>Chatbot collects journey info and returns a predicted arrival time</a:t>
            </a:r>
            <a:endParaRPr i="0" sz="2100" u="none" cap="none" strike="noStrike">
              <a:solidFill>
                <a:srgbClr val="000000"/>
              </a:solidFill>
            </a:endParaRPr>
          </a:p>
          <a:p>
            <a:pPr indent="0" lvl="0" marL="0" marR="0" rtl="0" algn="just">
              <a:lnSpc>
                <a:spcPct val="100000"/>
              </a:lnSpc>
              <a:spcBef>
                <a:spcPts val="0"/>
              </a:spcBef>
              <a:spcAft>
                <a:spcPts val="0"/>
              </a:spcAft>
              <a:buClr>
                <a:srgbClr val="000000"/>
              </a:buClr>
              <a:buSzPts val="1600"/>
              <a:buFont typeface="Arial"/>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3"/>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3"/>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3"/>
          <p:cNvSpPr/>
          <p:nvPr/>
        </p:nvSpPr>
        <p:spPr>
          <a:xfrm>
            <a:off x="552450" y="6438900"/>
            <a:ext cx="11087100" cy="9600"/>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3"/>
          <p:cNvSpPr/>
          <p:nvPr/>
        </p:nvSpPr>
        <p:spPr>
          <a:xfrm>
            <a:off x="552450" y="506625"/>
            <a:ext cx="10668000" cy="969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102D3A"/>
                </a:solidFill>
              </a:rPr>
              <a:t>Data Preprocessing</a:t>
            </a:r>
            <a:endParaRPr i="0" sz="3600" u="none" cap="none" strike="noStrike">
              <a:solidFill>
                <a:srgbClr val="000000"/>
              </a:solidFill>
            </a:endParaRPr>
          </a:p>
        </p:txBody>
      </p:sp>
      <p:sp>
        <p:nvSpPr>
          <p:cNvPr id="189" name="Google Shape;189;p13"/>
          <p:cNvSpPr/>
          <p:nvPr/>
        </p:nvSpPr>
        <p:spPr>
          <a:xfrm>
            <a:off x="552450" y="1363875"/>
            <a:ext cx="11225400" cy="4707300"/>
          </a:xfrm>
          <a:prstGeom prst="rect">
            <a:avLst/>
          </a:prstGeom>
          <a:solidFill>
            <a:srgbClr val="DDECEC"/>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3"/>
          <p:cNvSpPr/>
          <p:nvPr/>
        </p:nvSpPr>
        <p:spPr>
          <a:xfrm>
            <a:off x="838200" y="2076450"/>
            <a:ext cx="3429000" cy="190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3"/>
          <p:cNvSpPr txBox="1"/>
          <p:nvPr/>
        </p:nvSpPr>
        <p:spPr>
          <a:xfrm>
            <a:off x="635300" y="1476225"/>
            <a:ext cx="9072300" cy="37824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15000"/>
              </a:lnSpc>
              <a:spcBef>
                <a:spcPts val="0"/>
              </a:spcBef>
              <a:spcAft>
                <a:spcPts val="0"/>
              </a:spcAft>
              <a:buClr>
                <a:srgbClr val="000000"/>
              </a:buClr>
              <a:buSzPts val="2200"/>
              <a:buChar char="➔"/>
            </a:pPr>
            <a:r>
              <a:rPr i="0" lang="en-US" sz="2200" u="none" cap="none" strike="noStrike">
                <a:solidFill>
                  <a:srgbClr val="000000"/>
                </a:solidFill>
              </a:rPr>
              <a:t>Historical train performance data from South Western Railway (WAT↔WEY route)</a:t>
            </a:r>
            <a:endParaRPr i="0" sz="2200" u="none" cap="none" strike="noStrike">
              <a:solidFill>
                <a:srgbClr val="000000"/>
              </a:solidFill>
            </a:endParaRPr>
          </a:p>
          <a:p>
            <a:pPr indent="-368300" lvl="0" marL="457200" marR="0" rtl="0" algn="l">
              <a:lnSpc>
                <a:spcPct val="115000"/>
              </a:lnSpc>
              <a:spcBef>
                <a:spcPts val="0"/>
              </a:spcBef>
              <a:spcAft>
                <a:spcPts val="0"/>
              </a:spcAft>
              <a:buClr>
                <a:srgbClr val="000000"/>
              </a:buClr>
              <a:buSzPts val="2200"/>
              <a:buChar char="➔"/>
            </a:pPr>
            <a:r>
              <a:rPr i="0" lang="en-US" sz="2200" u="none" cap="none" strike="noStrike">
                <a:solidFill>
                  <a:srgbClr val="000000"/>
                </a:solidFill>
              </a:rPr>
              <a:t>Two direction-specific datasets: WAT to WEY and WEY to WAT</a:t>
            </a:r>
            <a:endParaRPr i="0" sz="2200" u="none" cap="none" strike="noStrike">
              <a:solidFill>
                <a:srgbClr val="000000"/>
              </a:solidFill>
            </a:endParaRPr>
          </a:p>
          <a:p>
            <a:pPr indent="-368300" lvl="0" marL="457200" marR="0" rtl="0" algn="l">
              <a:lnSpc>
                <a:spcPct val="115000"/>
              </a:lnSpc>
              <a:spcBef>
                <a:spcPts val="0"/>
              </a:spcBef>
              <a:spcAft>
                <a:spcPts val="0"/>
              </a:spcAft>
              <a:buClr>
                <a:srgbClr val="000000"/>
              </a:buClr>
              <a:buSzPts val="2200"/>
              <a:buChar char="➔"/>
            </a:pPr>
            <a:r>
              <a:rPr i="0" lang="en-US" sz="2200" u="none" cap="none" strike="noStrike">
                <a:solidFill>
                  <a:srgbClr val="000000"/>
                </a:solidFill>
              </a:rPr>
              <a:t>Data split: 70% training / 15% validation / 15% testing for hyperparameter tuning</a:t>
            </a:r>
            <a:endParaRPr i="0" sz="2200" u="none" cap="none" strike="noStrike">
              <a:solidFill>
                <a:srgbClr val="000000"/>
              </a:solidFill>
            </a:endParaRPr>
          </a:p>
          <a:p>
            <a:pPr indent="-368300" lvl="0" marL="457200" marR="0" rtl="0" algn="l">
              <a:lnSpc>
                <a:spcPct val="115000"/>
              </a:lnSpc>
              <a:spcBef>
                <a:spcPts val="0"/>
              </a:spcBef>
              <a:spcAft>
                <a:spcPts val="0"/>
              </a:spcAft>
              <a:buClr>
                <a:srgbClr val="000000"/>
              </a:buClr>
              <a:buSzPts val="2200"/>
              <a:buChar char="➔"/>
            </a:pPr>
            <a:r>
              <a:rPr i="0" lang="en-US" sz="2200" u="none" cap="none" strike="noStrike">
                <a:solidFill>
                  <a:srgbClr val="000000"/>
                </a:solidFill>
              </a:rPr>
              <a:t>80/20 for final model</a:t>
            </a:r>
            <a:endParaRPr i="0" sz="2200" u="none" cap="none" strike="noStrike">
              <a:solidFill>
                <a:srgbClr val="000000"/>
              </a:solidFil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lay"/>
              <a:ea typeface="Play"/>
              <a:cs typeface="Play"/>
              <a:sym typeface="Play"/>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4"/>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14"/>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4"/>
          <p:cNvSpPr/>
          <p:nvPr/>
        </p:nvSpPr>
        <p:spPr>
          <a:xfrm>
            <a:off x="552450" y="6438900"/>
            <a:ext cx="11087100" cy="9600"/>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14"/>
          <p:cNvSpPr/>
          <p:nvPr/>
        </p:nvSpPr>
        <p:spPr>
          <a:xfrm>
            <a:off x="455250" y="591525"/>
            <a:ext cx="10668000" cy="969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102D3A"/>
                </a:solidFill>
              </a:rPr>
              <a:t>Model Training</a:t>
            </a:r>
            <a:endParaRPr i="0" sz="3600" u="none" cap="none" strike="noStrike">
              <a:solidFill>
                <a:srgbClr val="000000"/>
              </a:solidFill>
            </a:endParaRPr>
          </a:p>
        </p:txBody>
      </p:sp>
      <p:sp>
        <p:nvSpPr>
          <p:cNvPr id="201" name="Google Shape;201;p14"/>
          <p:cNvSpPr/>
          <p:nvPr/>
        </p:nvSpPr>
        <p:spPr>
          <a:xfrm>
            <a:off x="8282875" y="2055075"/>
            <a:ext cx="3625200" cy="3690000"/>
          </a:xfrm>
          <a:prstGeom prst="rect">
            <a:avLst/>
          </a:prstGeom>
          <a:solidFill>
            <a:srgbClr val="DDECEC"/>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14"/>
          <p:cNvSpPr/>
          <p:nvPr/>
        </p:nvSpPr>
        <p:spPr>
          <a:xfrm>
            <a:off x="838200" y="2076450"/>
            <a:ext cx="3429000" cy="190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4"/>
          <p:cNvSpPr txBox="1"/>
          <p:nvPr/>
        </p:nvSpPr>
        <p:spPr>
          <a:xfrm>
            <a:off x="278125" y="1304763"/>
            <a:ext cx="11273700" cy="60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i="0" lang="en-US" sz="2200" u="none" cap="none" strike="noStrike">
                <a:solidFill>
                  <a:srgbClr val="000000"/>
                </a:solidFill>
              </a:rPr>
              <a:t>Three algorithms were trained and compared. </a:t>
            </a:r>
            <a:endParaRPr i="0" sz="2200" u="none" cap="none" strike="noStrike">
              <a:solidFill>
                <a:srgbClr val="000000"/>
              </a:solidFil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lay"/>
              <a:ea typeface="Play"/>
              <a:cs typeface="Play"/>
              <a:sym typeface="Play"/>
            </a:endParaRPr>
          </a:p>
        </p:txBody>
      </p:sp>
      <p:sp>
        <p:nvSpPr>
          <p:cNvPr id="204" name="Google Shape;204;p14"/>
          <p:cNvSpPr/>
          <p:nvPr/>
        </p:nvSpPr>
        <p:spPr>
          <a:xfrm>
            <a:off x="4280500" y="2055075"/>
            <a:ext cx="3771900" cy="3690000"/>
          </a:xfrm>
          <a:prstGeom prst="rect">
            <a:avLst/>
          </a:prstGeom>
          <a:solidFill>
            <a:srgbClr val="DDECEC"/>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14"/>
          <p:cNvSpPr/>
          <p:nvPr/>
        </p:nvSpPr>
        <p:spPr>
          <a:xfrm>
            <a:off x="278125" y="2076450"/>
            <a:ext cx="3771900" cy="3690000"/>
          </a:xfrm>
          <a:prstGeom prst="rect">
            <a:avLst/>
          </a:prstGeom>
          <a:solidFill>
            <a:srgbClr val="DDECEC"/>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4"/>
          <p:cNvSpPr txBox="1"/>
          <p:nvPr/>
        </p:nvSpPr>
        <p:spPr>
          <a:xfrm>
            <a:off x="537200" y="2712725"/>
            <a:ext cx="3429000" cy="31242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rgbClr val="000000"/>
              </a:buClr>
              <a:buSzPts val="2000"/>
              <a:buChar char="➔"/>
            </a:pPr>
            <a:r>
              <a:rPr i="0" lang="en-US" sz="2000" u="none" cap="none" strike="noStrike">
                <a:solidFill>
                  <a:srgbClr val="000000"/>
                </a:solidFill>
              </a:rPr>
              <a:t>Ensemble of decision trees</a:t>
            </a:r>
            <a:endParaRPr i="0" sz="2000" u="none" cap="none" strike="noStrike">
              <a:solidFill>
                <a:srgbClr val="000000"/>
              </a:solidFill>
            </a:endParaRPr>
          </a:p>
          <a:p>
            <a:pPr indent="-355600" lvl="0" marL="457200" marR="0" rtl="0" algn="l">
              <a:lnSpc>
                <a:spcPct val="100000"/>
              </a:lnSpc>
              <a:spcBef>
                <a:spcPts val="0"/>
              </a:spcBef>
              <a:spcAft>
                <a:spcPts val="0"/>
              </a:spcAft>
              <a:buClr>
                <a:srgbClr val="000000"/>
              </a:buClr>
              <a:buSzPts val="2000"/>
              <a:buChar char="➔"/>
            </a:pPr>
            <a:r>
              <a:rPr i="0" lang="en-US" sz="2000" u="none" cap="none" strike="noStrike">
                <a:solidFill>
                  <a:srgbClr val="000000"/>
                </a:solidFill>
              </a:rPr>
              <a:t>Robust to noise</a:t>
            </a:r>
            <a:endParaRPr i="0" sz="2000" u="none" cap="none" strike="noStrike">
              <a:solidFill>
                <a:srgbClr val="000000"/>
              </a:solidFill>
            </a:endParaRPr>
          </a:p>
          <a:p>
            <a:pPr indent="-355600" lvl="0" marL="457200" marR="0" rtl="0" algn="l">
              <a:lnSpc>
                <a:spcPct val="100000"/>
              </a:lnSpc>
              <a:spcBef>
                <a:spcPts val="0"/>
              </a:spcBef>
              <a:spcAft>
                <a:spcPts val="0"/>
              </a:spcAft>
              <a:buClr>
                <a:srgbClr val="000000"/>
              </a:buClr>
              <a:buSzPts val="2000"/>
              <a:buChar char="➔"/>
            </a:pPr>
            <a:r>
              <a:rPr i="0" lang="en-US" sz="2000" u="none" cap="none" strike="noStrike">
                <a:solidFill>
                  <a:srgbClr val="000000"/>
                </a:solidFill>
              </a:rPr>
              <a:t>n_estimators = [50, 100, 200]</a:t>
            </a:r>
            <a:endParaRPr i="0" sz="2000" u="none" cap="none" strike="noStrike">
              <a:solidFill>
                <a:srgbClr val="000000"/>
              </a:solidFill>
            </a:endParaRPr>
          </a:p>
          <a:p>
            <a:pPr indent="-355600" lvl="0" marL="457200" marR="0" rtl="0" algn="l">
              <a:lnSpc>
                <a:spcPct val="100000"/>
              </a:lnSpc>
              <a:spcBef>
                <a:spcPts val="0"/>
              </a:spcBef>
              <a:spcAft>
                <a:spcPts val="0"/>
              </a:spcAft>
              <a:buClr>
                <a:srgbClr val="000000"/>
              </a:buClr>
              <a:buSzPts val="2000"/>
              <a:buChar char="➔"/>
            </a:pPr>
            <a:r>
              <a:rPr i="0" lang="en-US" sz="2000" u="none" cap="none" strike="noStrike">
                <a:solidFill>
                  <a:srgbClr val="000000"/>
                </a:solidFill>
              </a:rPr>
              <a:t>max_depth = [5, 10, 20, None]</a:t>
            </a:r>
            <a:endParaRPr i="0" sz="2000" u="none" cap="none" strike="noStrike">
              <a:solidFill>
                <a:srgbClr val="000000"/>
              </a:solidFill>
            </a:endParaRPr>
          </a:p>
          <a:p>
            <a:pPr indent="0" lvl="0" marL="0" marR="0" rtl="0" algn="l">
              <a:lnSpc>
                <a:spcPct val="100000"/>
              </a:lnSpc>
              <a:spcBef>
                <a:spcPts val="0"/>
              </a:spcBef>
              <a:spcAft>
                <a:spcPts val="0"/>
              </a:spcAft>
              <a:buClr>
                <a:schemeClr val="dk1"/>
              </a:buClr>
              <a:buSzPts val="1100"/>
              <a:buFont typeface="Arial"/>
              <a:buNone/>
            </a:pPr>
            <a:r>
              <a:t/>
            </a:r>
            <a:endParaRPr b="0" i="0" sz="2000" u="none" cap="none" strike="noStrike">
              <a:solidFill>
                <a:schemeClr val="dk1"/>
              </a:solidFill>
              <a:latin typeface="Play"/>
              <a:ea typeface="Play"/>
              <a:cs typeface="Play"/>
              <a:sym typeface="Play"/>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Play"/>
              <a:ea typeface="Play"/>
              <a:cs typeface="Play"/>
              <a:sym typeface="Play"/>
            </a:endParaRPr>
          </a:p>
        </p:txBody>
      </p:sp>
      <p:sp>
        <p:nvSpPr>
          <p:cNvPr id="207" name="Google Shape;207;p14"/>
          <p:cNvSpPr txBox="1"/>
          <p:nvPr/>
        </p:nvSpPr>
        <p:spPr>
          <a:xfrm>
            <a:off x="4442450" y="2712725"/>
            <a:ext cx="3429000" cy="29832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rgbClr val="000000"/>
              </a:buClr>
              <a:buSzPts val="2000"/>
              <a:buChar char="➔"/>
            </a:pPr>
            <a:r>
              <a:rPr i="0" lang="en-US" sz="2000" u="none" cap="none" strike="noStrike">
                <a:solidFill>
                  <a:srgbClr val="000000"/>
                </a:solidFill>
              </a:rPr>
              <a:t>gradient boosted trees</a:t>
            </a:r>
            <a:endParaRPr i="0" sz="2000" u="none" cap="none" strike="noStrike">
              <a:solidFill>
                <a:srgbClr val="000000"/>
              </a:solidFill>
            </a:endParaRPr>
          </a:p>
          <a:p>
            <a:pPr indent="-355600" lvl="0" marL="457200" marR="0" rtl="0" algn="l">
              <a:lnSpc>
                <a:spcPct val="100000"/>
              </a:lnSpc>
              <a:spcBef>
                <a:spcPts val="0"/>
              </a:spcBef>
              <a:spcAft>
                <a:spcPts val="0"/>
              </a:spcAft>
              <a:buClr>
                <a:srgbClr val="000000"/>
              </a:buClr>
              <a:buSzPts val="2000"/>
              <a:buChar char="➔"/>
            </a:pPr>
            <a:r>
              <a:rPr i="0" lang="en-US" sz="2000" u="none" cap="none" strike="noStrike">
                <a:solidFill>
                  <a:srgbClr val="000000"/>
                </a:solidFill>
              </a:rPr>
              <a:t>often stronger on tabular data</a:t>
            </a:r>
            <a:endParaRPr i="0" sz="2000" u="none" cap="none" strike="noStrike">
              <a:solidFill>
                <a:srgbClr val="000000"/>
              </a:solidFill>
            </a:endParaRPr>
          </a:p>
          <a:p>
            <a:pPr indent="-355600" lvl="0" marL="457200" marR="0" rtl="0" algn="l">
              <a:lnSpc>
                <a:spcPct val="100000"/>
              </a:lnSpc>
              <a:spcBef>
                <a:spcPts val="0"/>
              </a:spcBef>
              <a:spcAft>
                <a:spcPts val="0"/>
              </a:spcAft>
              <a:buClr>
                <a:srgbClr val="000000"/>
              </a:buClr>
              <a:buSzPts val="2000"/>
              <a:buChar char="➔"/>
            </a:pPr>
            <a:r>
              <a:rPr i="0" lang="en-US" sz="2000" u="none" cap="none" strike="noStrike">
                <a:solidFill>
                  <a:srgbClr val="000000"/>
                </a:solidFill>
              </a:rPr>
              <a:t>n_estimators = [100, 200, 300]</a:t>
            </a:r>
            <a:endParaRPr i="0" sz="2000" u="none" cap="none" strike="noStrike">
              <a:solidFill>
                <a:srgbClr val="000000"/>
              </a:solidFill>
            </a:endParaRPr>
          </a:p>
          <a:p>
            <a:pPr indent="-355600" lvl="0" marL="457200" marR="0" rtl="0" algn="l">
              <a:lnSpc>
                <a:spcPct val="100000"/>
              </a:lnSpc>
              <a:spcBef>
                <a:spcPts val="0"/>
              </a:spcBef>
              <a:spcAft>
                <a:spcPts val="0"/>
              </a:spcAft>
              <a:buClr>
                <a:srgbClr val="000000"/>
              </a:buClr>
              <a:buSzPts val="2000"/>
              <a:buChar char="➔"/>
            </a:pPr>
            <a:r>
              <a:rPr i="0" lang="en-US" sz="2000" u="none" cap="none" strike="noStrike">
                <a:solidFill>
                  <a:srgbClr val="000000"/>
                </a:solidFill>
              </a:rPr>
              <a:t>max_depth = [3, 5, 7] </a:t>
            </a:r>
            <a:endParaRPr i="0" sz="2000" u="none" cap="none" strike="noStrike">
              <a:solidFill>
                <a:srgbClr val="000000"/>
              </a:solidFill>
            </a:endParaRPr>
          </a:p>
          <a:p>
            <a:pPr indent="-355600" lvl="0" marL="457200" marR="0" rtl="0" algn="l">
              <a:lnSpc>
                <a:spcPct val="100000"/>
              </a:lnSpc>
              <a:spcBef>
                <a:spcPts val="0"/>
              </a:spcBef>
              <a:spcAft>
                <a:spcPts val="0"/>
              </a:spcAft>
              <a:buClr>
                <a:srgbClr val="000000"/>
              </a:buClr>
              <a:buSzPts val="2000"/>
              <a:buChar char="➔"/>
            </a:pPr>
            <a:r>
              <a:rPr i="0" lang="en-US" sz="2000" u="none" cap="none" strike="noStrike">
                <a:solidFill>
                  <a:srgbClr val="000000"/>
                </a:solidFill>
              </a:rPr>
              <a:t>learning_rate = 0.1</a:t>
            </a:r>
            <a:endParaRPr i="0" sz="2000" u="none" cap="none" strike="noStrike">
              <a:solidFill>
                <a:srgbClr val="000000"/>
              </a:solidFil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208" name="Google Shape;208;p14"/>
          <p:cNvSpPr txBox="1"/>
          <p:nvPr/>
        </p:nvSpPr>
        <p:spPr>
          <a:xfrm>
            <a:off x="8282875" y="2783225"/>
            <a:ext cx="3429000" cy="29832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120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predicts based on k nearest historical examples</a:t>
            </a:r>
            <a:endParaRPr sz="1050">
              <a:solidFill>
                <a:srgbClr val="D4D4D4"/>
              </a:solidFill>
              <a:highlight>
                <a:srgbClr val="1E1E1E"/>
              </a:highlight>
              <a:latin typeface="Courier New"/>
              <a:ea typeface="Courier New"/>
              <a:cs typeface="Courier New"/>
              <a:sym typeface="Courier New"/>
            </a:endParaRPr>
          </a:p>
          <a:p>
            <a:pPr indent="-355600" lvl="0" marL="457200" marR="0" rtl="0" algn="l">
              <a:lnSpc>
                <a:spcPct val="115000"/>
              </a:lnSpc>
              <a:spcBef>
                <a:spcPts val="0"/>
              </a:spcBef>
              <a:spcAft>
                <a:spcPts val="0"/>
              </a:spcAft>
              <a:buSzPts val="2000"/>
              <a:buChar char="➔"/>
            </a:pPr>
            <a:r>
              <a:rPr lang="en-US" sz="2000"/>
              <a:t>tuned over k values [3,5,10,15,20]</a:t>
            </a:r>
            <a:endParaRPr sz="2000"/>
          </a:p>
          <a:p>
            <a:pPr indent="0" lvl="0" marL="0" marR="0" rtl="0" algn="l">
              <a:lnSpc>
                <a:spcPct val="100000"/>
              </a:lnSpc>
              <a:spcBef>
                <a:spcPts val="1200"/>
              </a:spcBef>
              <a:spcAft>
                <a:spcPts val="0"/>
              </a:spcAft>
              <a:buClr>
                <a:srgbClr val="000000"/>
              </a:buClr>
              <a:buSzPts val="1100"/>
              <a:buFont typeface="Arial"/>
              <a:buNone/>
            </a:pPr>
            <a:r>
              <a:t/>
            </a:r>
            <a:endParaRPr b="0" i="0" sz="1100" u="none" cap="none" strike="noStrike">
              <a:solidFill>
                <a:srgbClr val="188038"/>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209" name="Google Shape;209;p14"/>
          <p:cNvSpPr txBox="1"/>
          <p:nvPr/>
        </p:nvSpPr>
        <p:spPr>
          <a:xfrm>
            <a:off x="283800" y="5885375"/>
            <a:ext cx="11624400" cy="60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en-US" sz="2000" u="none" cap="none" strike="noStrike">
                <a:solidFill>
                  <a:srgbClr val="000000"/>
                </a:solidFill>
                <a:latin typeface="Arial"/>
                <a:ea typeface="Arial"/>
                <a:cs typeface="Arial"/>
                <a:sym typeface="Arial"/>
              </a:rPr>
              <a:t>Best config per model selected by lowest validation RMSE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0" name="Google Shape;210;p14"/>
          <p:cNvSpPr/>
          <p:nvPr/>
        </p:nvSpPr>
        <p:spPr>
          <a:xfrm>
            <a:off x="278125" y="2063975"/>
            <a:ext cx="3771900" cy="600300"/>
          </a:xfrm>
          <a:prstGeom prst="rect">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Arial"/>
                <a:ea typeface="Arial"/>
                <a:cs typeface="Arial"/>
                <a:sym typeface="Arial"/>
              </a:rPr>
              <a:t>Random Forest</a:t>
            </a:r>
            <a:endParaRPr b="0" i="0" sz="2200" u="none" cap="none" strike="noStrike">
              <a:solidFill>
                <a:schemeClr val="lt1"/>
              </a:solidFill>
              <a:latin typeface="Arial"/>
              <a:ea typeface="Arial"/>
              <a:cs typeface="Arial"/>
              <a:sym typeface="Arial"/>
            </a:endParaRPr>
          </a:p>
        </p:txBody>
      </p:sp>
      <p:sp>
        <p:nvSpPr>
          <p:cNvPr id="211" name="Google Shape;211;p14"/>
          <p:cNvSpPr/>
          <p:nvPr/>
        </p:nvSpPr>
        <p:spPr>
          <a:xfrm>
            <a:off x="4280500" y="2063975"/>
            <a:ext cx="3771900" cy="600300"/>
          </a:xfrm>
          <a:prstGeom prst="rect">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Arial"/>
                <a:ea typeface="Arial"/>
                <a:cs typeface="Arial"/>
                <a:sym typeface="Arial"/>
              </a:rPr>
              <a:t>XGBoost</a:t>
            </a:r>
            <a:endParaRPr b="0" i="0" sz="2200" u="none" cap="none" strike="noStrike">
              <a:solidFill>
                <a:schemeClr val="lt1"/>
              </a:solidFill>
              <a:latin typeface="Arial"/>
              <a:ea typeface="Arial"/>
              <a:cs typeface="Arial"/>
              <a:sym typeface="Arial"/>
            </a:endParaRPr>
          </a:p>
        </p:txBody>
      </p:sp>
      <p:sp>
        <p:nvSpPr>
          <p:cNvPr id="212" name="Google Shape;212;p14"/>
          <p:cNvSpPr/>
          <p:nvPr/>
        </p:nvSpPr>
        <p:spPr>
          <a:xfrm>
            <a:off x="8282875" y="2044000"/>
            <a:ext cx="3625200" cy="600300"/>
          </a:xfrm>
          <a:prstGeom prst="rect">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Arial"/>
                <a:ea typeface="Arial"/>
                <a:cs typeface="Arial"/>
                <a:sym typeface="Arial"/>
              </a:rPr>
              <a:t>KNN Regressor</a:t>
            </a:r>
            <a:endParaRPr b="0" i="0" sz="2200" u="none" cap="none" strike="noStrike">
              <a:solidFill>
                <a:schemeClr val="lt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5"/>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9" name="Google Shape;219;p15"/>
          <p:cNvPicPr preferRelativeResize="0"/>
          <p:nvPr/>
        </p:nvPicPr>
        <p:blipFill rotWithShape="1">
          <a:blip r:embed="rId3">
            <a:alphaModFix/>
          </a:blip>
          <a:srcRect b="0" l="0" r="0" t="0"/>
          <a:stretch/>
        </p:blipFill>
        <p:spPr>
          <a:xfrm>
            <a:off x="4426500" y="205975"/>
            <a:ext cx="7359600" cy="2907289"/>
          </a:xfrm>
          <a:prstGeom prst="rect">
            <a:avLst/>
          </a:prstGeom>
          <a:solidFill>
            <a:srgbClr val="F8F7F3"/>
          </a:solidFill>
          <a:ln cap="flat" cmpd="sng" w="9525">
            <a:solidFill>
              <a:srgbClr val="000000"/>
            </a:solidFill>
            <a:prstDash val="solid"/>
            <a:round/>
            <a:headEnd len="sm" w="sm" type="none"/>
            <a:tailEnd len="sm" w="sm" type="none"/>
          </a:ln>
        </p:spPr>
      </p:pic>
      <p:pic>
        <p:nvPicPr>
          <p:cNvPr id="220" name="Google Shape;220;p15"/>
          <p:cNvPicPr preferRelativeResize="0"/>
          <p:nvPr/>
        </p:nvPicPr>
        <p:blipFill rotWithShape="1">
          <a:blip r:embed="rId4">
            <a:alphaModFix/>
          </a:blip>
          <a:srcRect b="0" l="0" r="0" t="0"/>
          <a:stretch/>
        </p:blipFill>
        <p:spPr>
          <a:xfrm>
            <a:off x="4426500" y="3321700"/>
            <a:ext cx="7355804" cy="2907301"/>
          </a:xfrm>
          <a:prstGeom prst="rect">
            <a:avLst/>
          </a:prstGeom>
          <a:solidFill>
            <a:srgbClr val="F8F7F3"/>
          </a:solidFill>
          <a:ln cap="flat" cmpd="sng" w="9525">
            <a:solidFill>
              <a:srgbClr val="000000"/>
            </a:solidFill>
            <a:prstDash val="solid"/>
            <a:round/>
            <a:headEnd len="sm" w="sm" type="none"/>
            <a:tailEnd len="sm" w="sm" type="none"/>
          </a:ln>
        </p:spPr>
      </p:pic>
      <p:sp>
        <p:nvSpPr>
          <p:cNvPr id="221" name="Google Shape;221;p15"/>
          <p:cNvSpPr/>
          <p:nvPr/>
        </p:nvSpPr>
        <p:spPr>
          <a:xfrm>
            <a:off x="296750" y="287063"/>
            <a:ext cx="3871200" cy="5942100"/>
          </a:xfrm>
          <a:prstGeom prst="rect">
            <a:avLst/>
          </a:prstGeom>
          <a:solidFill>
            <a:schemeClr val="accent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US" sz="3000" u="none" cap="none" strike="noStrike">
                <a:solidFill>
                  <a:srgbClr val="FFFFFF"/>
                </a:solidFill>
                <a:latin typeface="Arial"/>
                <a:ea typeface="Arial"/>
                <a:cs typeface="Arial"/>
                <a:sym typeface="Arial"/>
              </a:rPr>
              <a:t>Model Comparison</a:t>
            </a:r>
            <a:endParaRPr b="0" i="0" sz="3000" u="none" cap="none" strike="noStrike">
              <a:solidFill>
                <a:srgbClr val="FFFFFF"/>
              </a:solidFill>
              <a:latin typeface="Arial"/>
              <a:ea typeface="Arial"/>
              <a:cs typeface="Arial"/>
              <a:sym typeface="Arial"/>
            </a:endParaRPr>
          </a:p>
        </p:txBody>
      </p:sp>
      <p:sp>
        <p:nvSpPr>
          <p:cNvPr id="222" name="Google Shape;222;p15"/>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5"/>
          <p:cNvSpPr/>
          <p:nvPr/>
        </p:nvSpPr>
        <p:spPr>
          <a:xfrm>
            <a:off x="552450" y="6438900"/>
            <a:ext cx="11087100" cy="9600"/>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6"/>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0" name="Google Shape;230;p16"/>
          <p:cNvPicPr preferRelativeResize="0"/>
          <p:nvPr/>
        </p:nvPicPr>
        <p:blipFill rotWithShape="1">
          <a:blip r:embed="rId3">
            <a:alphaModFix/>
          </a:blip>
          <a:srcRect b="0" l="0" r="0" t="0"/>
          <a:stretch/>
        </p:blipFill>
        <p:spPr>
          <a:xfrm>
            <a:off x="334750" y="1503475"/>
            <a:ext cx="11604550" cy="4738524"/>
          </a:xfrm>
          <a:prstGeom prst="rect">
            <a:avLst/>
          </a:prstGeom>
          <a:solidFill>
            <a:srgbClr val="F8F7F3"/>
          </a:solidFill>
          <a:ln cap="flat" cmpd="sng" w="9525">
            <a:solidFill>
              <a:srgbClr val="000000"/>
            </a:solidFill>
            <a:prstDash val="solid"/>
            <a:round/>
            <a:headEnd len="sm" w="sm" type="none"/>
            <a:tailEnd len="sm" w="sm" type="none"/>
          </a:ln>
        </p:spPr>
      </p:pic>
      <p:sp>
        <p:nvSpPr>
          <p:cNvPr id="231" name="Google Shape;231;p16"/>
          <p:cNvSpPr/>
          <p:nvPr/>
        </p:nvSpPr>
        <p:spPr>
          <a:xfrm>
            <a:off x="226500" y="278925"/>
            <a:ext cx="11739000" cy="1003500"/>
          </a:xfrm>
          <a:prstGeom prst="rect">
            <a:avLst/>
          </a:prstGeom>
          <a:solidFill>
            <a:schemeClr val="accent1"/>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3400"/>
              <a:buFont typeface="Arial"/>
              <a:buNone/>
            </a:pPr>
            <a:r>
              <a:rPr b="1" i="0" lang="en-US" sz="3400" u="none" cap="none" strike="noStrike">
                <a:solidFill>
                  <a:srgbClr val="FFFFFF"/>
                </a:solidFill>
              </a:rPr>
              <a:t>Hyperparameter Tuning Random Forest (WEY -&gt; WAT)</a:t>
            </a:r>
            <a:endParaRPr b="1" i="0" sz="3400" u="none" cap="none" strike="noStrike">
              <a:solidFill>
                <a:srgbClr val="FFFFFF"/>
              </a:solidFill>
            </a:endParaRPr>
          </a:p>
        </p:txBody>
      </p:sp>
      <p:sp>
        <p:nvSpPr>
          <p:cNvPr id="232" name="Google Shape;232;p16"/>
          <p:cNvSpPr/>
          <p:nvPr/>
        </p:nvSpPr>
        <p:spPr>
          <a:xfrm>
            <a:off x="0" y="-18317"/>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6"/>
          <p:cNvSpPr/>
          <p:nvPr/>
        </p:nvSpPr>
        <p:spPr>
          <a:xfrm>
            <a:off x="552450" y="6438900"/>
            <a:ext cx="11087100" cy="9600"/>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7"/>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0" name="Google Shape;240;p17"/>
          <p:cNvPicPr preferRelativeResize="0"/>
          <p:nvPr/>
        </p:nvPicPr>
        <p:blipFill rotWithShape="1">
          <a:blip r:embed="rId3">
            <a:alphaModFix/>
          </a:blip>
          <a:srcRect b="0" l="0" r="0" t="0"/>
          <a:stretch/>
        </p:blipFill>
        <p:spPr>
          <a:xfrm>
            <a:off x="331504" y="1441450"/>
            <a:ext cx="11528996" cy="4838400"/>
          </a:xfrm>
          <a:prstGeom prst="rect">
            <a:avLst/>
          </a:prstGeom>
          <a:solidFill>
            <a:srgbClr val="F8F7F3"/>
          </a:solidFill>
          <a:ln cap="flat" cmpd="sng" w="9525">
            <a:solidFill>
              <a:srgbClr val="000000"/>
            </a:solidFill>
            <a:prstDash val="solid"/>
            <a:round/>
            <a:headEnd len="sm" w="sm" type="none"/>
            <a:tailEnd len="sm" w="sm" type="none"/>
          </a:ln>
        </p:spPr>
      </p:pic>
      <p:sp>
        <p:nvSpPr>
          <p:cNvPr id="241" name="Google Shape;241;p17"/>
          <p:cNvSpPr/>
          <p:nvPr/>
        </p:nvSpPr>
        <p:spPr>
          <a:xfrm>
            <a:off x="226500" y="278925"/>
            <a:ext cx="11739000" cy="1003500"/>
          </a:xfrm>
          <a:prstGeom prst="rect">
            <a:avLst/>
          </a:prstGeom>
          <a:solidFill>
            <a:schemeClr val="accent1"/>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3400"/>
              <a:buFont typeface="Arial"/>
              <a:buNone/>
            </a:pPr>
            <a:r>
              <a:rPr b="1" i="0" lang="en-US" sz="3400" u="none" cap="none" strike="noStrike">
                <a:solidFill>
                  <a:srgbClr val="FFFFFF"/>
                </a:solidFill>
              </a:rPr>
              <a:t>Hyperparameter Tuning Random Forest (WAT -&gt; WEY)</a:t>
            </a:r>
            <a:endParaRPr b="1" i="0" sz="3400" u="none" cap="none" strike="noStrike">
              <a:solidFill>
                <a:srgbClr val="FFFFFF"/>
              </a:solidFill>
            </a:endParaRPr>
          </a:p>
        </p:txBody>
      </p:sp>
      <p:sp>
        <p:nvSpPr>
          <p:cNvPr id="242" name="Google Shape;242;p17"/>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17"/>
          <p:cNvSpPr/>
          <p:nvPr/>
        </p:nvSpPr>
        <p:spPr>
          <a:xfrm>
            <a:off x="552450" y="6438900"/>
            <a:ext cx="11087100" cy="9600"/>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8"/>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18"/>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18"/>
          <p:cNvSpPr/>
          <p:nvPr/>
        </p:nvSpPr>
        <p:spPr>
          <a:xfrm>
            <a:off x="552450" y="6438900"/>
            <a:ext cx="11087100" cy="9600"/>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18"/>
          <p:cNvSpPr/>
          <p:nvPr/>
        </p:nvSpPr>
        <p:spPr>
          <a:xfrm>
            <a:off x="467400" y="1638225"/>
            <a:ext cx="3105300" cy="20670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125"/>
              <a:buFont typeface="Arial"/>
              <a:buNone/>
            </a:pPr>
            <a:r>
              <a:rPr b="1" i="0" lang="en-US" sz="4125" u="none" cap="none" strike="noStrike">
                <a:solidFill>
                  <a:srgbClr val="102D3A"/>
                </a:solidFill>
              </a:rPr>
              <a:t>Feature </a:t>
            </a:r>
            <a:endParaRPr b="1" i="0" sz="4125" u="none" cap="none" strike="noStrike">
              <a:solidFill>
                <a:srgbClr val="102D3A"/>
              </a:solidFill>
            </a:endParaRPr>
          </a:p>
          <a:p>
            <a:pPr indent="0" lvl="0" marL="0" marR="0" rtl="0" algn="l">
              <a:lnSpc>
                <a:spcPct val="100000"/>
              </a:lnSpc>
              <a:spcBef>
                <a:spcPts val="0"/>
              </a:spcBef>
              <a:spcAft>
                <a:spcPts val="0"/>
              </a:spcAft>
              <a:buClr>
                <a:srgbClr val="000000"/>
              </a:buClr>
              <a:buSzPts val="4125"/>
              <a:buFont typeface="Arial"/>
              <a:buNone/>
            </a:pPr>
            <a:r>
              <a:rPr b="1" i="0" lang="en-US" sz="4125" u="none" cap="none" strike="noStrike">
                <a:solidFill>
                  <a:srgbClr val="102D3A"/>
                </a:solidFill>
              </a:rPr>
              <a:t>Importance</a:t>
            </a:r>
            <a:endParaRPr b="1" i="0" sz="4125" u="none" cap="none" strike="noStrike">
              <a:solidFill>
                <a:srgbClr val="102D3A"/>
              </a:solidFill>
            </a:endParaRPr>
          </a:p>
        </p:txBody>
      </p:sp>
      <p:sp>
        <p:nvSpPr>
          <p:cNvPr id="253" name="Google Shape;253;p18"/>
          <p:cNvSpPr/>
          <p:nvPr/>
        </p:nvSpPr>
        <p:spPr>
          <a:xfrm flipH="1" rot="10800000">
            <a:off x="348350" y="3038475"/>
            <a:ext cx="3073800" cy="1143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18"/>
          <p:cNvSpPr/>
          <p:nvPr/>
        </p:nvSpPr>
        <p:spPr>
          <a:xfrm>
            <a:off x="7696200" y="1819275"/>
            <a:ext cx="3295800" cy="8382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18"/>
          <p:cNvSpPr/>
          <p:nvPr/>
        </p:nvSpPr>
        <p:spPr>
          <a:xfrm>
            <a:off x="7867650" y="3038475"/>
            <a:ext cx="3105300" cy="514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18"/>
          <p:cNvSpPr/>
          <p:nvPr/>
        </p:nvSpPr>
        <p:spPr>
          <a:xfrm>
            <a:off x="7867650" y="3705225"/>
            <a:ext cx="3105300" cy="609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18"/>
          <p:cNvSpPr/>
          <p:nvPr/>
        </p:nvSpPr>
        <p:spPr>
          <a:xfrm>
            <a:off x="7867650" y="4467225"/>
            <a:ext cx="3105300" cy="7431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58" name="Google Shape;258;p18"/>
          <p:cNvPicPr preferRelativeResize="0"/>
          <p:nvPr/>
        </p:nvPicPr>
        <p:blipFill rotWithShape="1">
          <a:blip r:embed="rId3">
            <a:alphaModFix/>
          </a:blip>
          <a:srcRect b="0" l="0" r="0" t="0"/>
          <a:stretch/>
        </p:blipFill>
        <p:spPr>
          <a:xfrm>
            <a:off x="3941325" y="306250"/>
            <a:ext cx="7997151" cy="59978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9"/>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65" name="Google Shape;265;p19"/>
          <p:cNvPicPr preferRelativeResize="0"/>
          <p:nvPr/>
        </p:nvPicPr>
        <p:blipFill rotWithShape="1">
          <a:blip r:embed="rId3">
            <a:alphaModFix/>
          </a:blip>
          <a:srcRect b="0" l="0" r="0" t="0"/>
          <a:stretch/>
        </p:blipFill>
        <p:spPr>
          <a:xfrm>
            <a:off x="6339725" y="1459453"/>
            <a:ext cx="4802374" cy="4802398"/>
          </a:xfrm>
          <a:prstGeom prst="rect">
            <a:avLst/>
          </a:prstGeom>
          <a:solidFill>
            <a:srgbClr val="F8F7F3"/>
          </a:solidFill>
          <a:ln cap="flat" cmpd="sng" w="9525">
            <a:solidFill>
              <a:srgbClr val="000000"/>
            </a:solidFill>
            <a:prstDash val="solid"/>
            <a:round/>
            <a:headEnd len="sm" w="sm" type="none"/>
            <a:tailEnd len="sm" w="sm" type="none"/>
          </a:ln>
        </p:spPr>
      </p:pic>
      <p:pic>
        <p:nvPicPr>
          <p:cNvPr id="266" name="Google Shape;266;p19"/>
          <p:cNvPicPr preferRelativeResize="0"/>
          <p:nvPr/>
        </p:nvPicPr>
        <p:blipFill rotWithShape="1">
          <a:blip r:embed="rId4">
            <a:alphaModFix/>
          </a:blip>
          <a:srcRect b="0" l="0" r="0" t="0"/>
          <a:stretch/>
        </p:blipFill>
        <p:spPr>
          <a:xfrm>
            <a:off x="928225" y="1459475"/>
            <a:ext cx="4802374" cy="4802374"/>
          </a:xfrm>
          <a:prstGeom prst="rect">
            <a:avLst/>
          </a:prstGeom>
          <a:solidFill>
            <a:srgbClr val="F8F7F3"/>
          </a:solidFill>
          <a:ln cap="flat" cmpd="sng" w="9525">
            <a:solidFill>
              <a:srgbClr val="000000"/>
            </a:solidFill>
            <a:prstDash val="solid"/>
            <a:round/>
            <a:headEnd len="sm" w="sm" type="none"/>
            <a:tailEnd len="sm" w="sm" type="none"/>
          </a:ln>
        </p:spPr>
      </p:pic>
      <p:sp>
        <p:nvSpPr>
          <p:cNvPr id="267" name="Google Shape;267;p19"/>
          <p:cNvSpPr/>
          <p:nvPr/>
        </p:nvSpPr>
        <p:spPr>
          <a:xfrm>
            <a:off x="226500" y="278925"/>
            <a:ext cx="11739000" cy="1003500"/>
          </a:xfrm>
          <a:prstGeom prst="rect">
            <a:avLst/>
          </a:prstGeom>
          <a:solidFill>
            <a:schemeClr val="accent1"/>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3400"/>
              <a:buFont typeface="Arial"/>
              <a:buNone/>
            </a:pPr>
            <a:r>
              <a:rPr b="1" i="0" lang="en-US" sz="3400" u="none" cap="none" strike="noStrike">
                <a:solidFill>
                  <a:srgbClr val="FFFFFF"/>
                </a:solidFill>
              </a:rPr>
              <a:t>Random Forest - Actual vs Predicted (WAT &lt;-&gt; WEY)</a:t>
            </a:r>
            <a:endParaRPr b="1" i="0" sz="3400" u="none" cap="none" strike="noStrike">
              <a:solidFill>
                <a:srgbClr val="FFFFFF"/>
              </a:solidFill>
            </a:endParaRPr>
          </a:p>
        </p:txBody>
      </p:sp>
      <p:sp>
        <p:nvSpPr>
          <p:cNvPr id="268" name="Google Shape;268;p19"/>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19"/>
          <p:cNvSpPr/>
          <p:nvPr/>
        </p:nvSpPr>
        <p:spPr>
          <a:xfrm>
            <a:off x="552450" y="6438900"/>
            <a:ext cx="11087100" cy="9600"/>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0"/>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20"/>
          <p:cNvSpPr txBox="1"/>
          <p:nvPr/>
        </p:nvSpPr>
        <p:spPr>
          <a:xfrm>
            <a:off x="445650" y="1537600"/>
            <a:ext cx="4014000" cy="149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US" sz="4125" u="none" cap="none" strike="noStrike">
                <a:solidFill>
                  <a:srgbClr val="102D3A"/>
                </a:solidFill>
              </a:rPr>
              <a:t>Chatbot </a:t>
            </a:r>
            <a:endParaRPr b="1" i="0" sz="4125" u="none" cap="none" strike="noStrike">
              <a:solidFill>
                <a:srgbClr val="102D3A"/>
              </a:solidFill>
            </a:endParaRPr>
          </a:p>
          <a:p>
            <a:pPr indent="0" lvl="0" marL="0" marR="0" rtl="0" algn="l">
              <a:lnSpc>
                <a:spcPct val="100000"/>
              </a:lnSpc>
              <a:spcBef>
                <a:spcPts val="0"/>
              </a:spcBef>
              <a:spcAft>
                <a:spcPts val="0"/>
              </a:spcAft>
              <a:buClr>
                <a:schemeClr val="dk1"/>
              </a:buClr>
              <a:buSzPts val="1100"/>
              <a:buFont typeface="Arial"/>
              <a:buNone/>
            </a:pPr>
            <a:r>
              <a:rPr b="1" i="0" lang="en-US" sz="4125" u="none" cap="none" strike="noStrike">
                <a:solidFill>
                  <a:srgbClr val="102D3A"/>
                </a:solidFill>
              </a:rPr>
              <a:t>Integration</a:t>
            </a:r>
            <a:endParaRPr i="0" sz="1400" u="none" cap="none" strike="noStrike">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77" name="Google Shape;277;p20"/>
          <p:cNvSpPr/>
          <p:nvPr/>
        </p:nvSpPr>
        <p:spPr>
          <a:xfrm>
            <a:off x="4459650" y="469500"/>
            <a:ext cx="7318200" cy="5673000"/>
          </a:xfrm>
          <a:prstGeom prst="rect">
            <a:avLst/>
          </a:prstGeom>
          <a:solidFill>
            <a:srgbClr val="DDECEC"/>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20"/>
          <p:cNvSpPr/>
          <p:nvPr/>
        </p:nvSpPr>
        <p:spPr>
          <a:xfrm flipH="1" rot="10800000">
            <a:off x="235425" y="3119475"/>
            <a:ext cx="3788100" cy="333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20"/>
          <p:cNvSpPr txBox="1"/>
          <p:nvPr/>
        </p:nvSpPr>
        <p:spPr>
          <a:xfrm>
            <a:off x="4630925" y="687000"/>
            <a:ext cx="6681900" cy="57615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15000"/>
              </a:lnSpc>
              <a:spcBef>
                <a:spcPts val="0"/>
              </a:spcBef>
              <a:spcAft>
                <a:spcPts val="0"/>
              </a:spcAft>
              <a:buClr>
                <a:schemeClr val="dk1"/>
              </a:buClr>
              <a:buSzPts val="2200"/>
              <a:buChar char="➔"/>
            </a:pPr>
            <a:r>
              <a:rPr i="0" lang="en-US" sz="2200" u="none" cap="none" strike="noStrike">
                <a:solidFill>
                  <a:srgbClr val="000000"/>
                </a:solidFill>
              </a:rPr>
              <a:t>Chatbot collects 6 slots through conversation:</a:t>
            </a:r>
            <a:endParaRPr i="0" sz="2200" u="none" cap="none" strike="noStrike">
              <a:solidFill>
                <a:srgbClr val="000000"/>
              </a:solidFill>
            </a:endParaRPr>
          </a:p>
          <a:p>
            <a:pPr indent="-368300" lvl="1" marL="914400" marR="0" rtl="0" algn="l">
              <a:lnSpc>
                <a:spcPct val="115000"/>
              </a:lnSpc>
              <a:spcBef>
                <a:spcPts val="0"/>
              </a:spcBef>
              <a:spcAft>
                <a:spcPts val="0"/>
              </a:spcAft>
              <a:buClr>
                <a:srgbClr val="000000"/>
              </a:buClr>
              <a:buSzPts val="2200"/>
              <a:buChar char="◆"/>
            </a:pPr>
            <a:r>
              <a:rPr i="0" lang="en-US" sz="2200" u="none" cap="none" strike="noStrike">
                <a:solidFill>
                  <a:srgbClr val="000000"/>
                </a:solidFill>
              </a:rPr>
              <a:t>Direction (WAT2WEY or WEY2WAT)</a:t>
            </a:r>
            <a:endParaRPr i="0" sz="2200" u="none" cap="none" strike="noStrike">
              <a:solidFill>
                <a:srgbClr val="000000"/>
              </a:solidFill>
            </a:endParaRPr>
          </a:p>
          <a:p>
            <a:pPr indent="-368300" lvl="1" marL="914400" marR="0" rtl="0" algn="l">
              <a:lnSpc>
                <a:spcPct val="115000"/>
              </a:lnSpc>
              <a:spcBef>
                <a:spcPts val="0"/>
              </a:spcBef>
              <a:spcAft>
                <a:spcPts val="0"/>
              </a:spcAft>
              <a:buClr>
                <a:srgbClr val="000000"/>
              </a:buClr>
              <a:buSzPts val="2200"/>
              <a:buChar char="◆"/>
            </a:pPr>
            <a:r>
              <a:rPr i="0" lang="en-US" sz="2200" u="none" cap="none" strike="noStrike">
                <a:solidFill>
                  <a:srgbClr val="000000"/>
                </a:solidFill>
              </a:rPr>
              <a:t>Origin station</a:t>
            </a:r>
            <a:endParaRPr i="0" sz="2200" u="none" cap="none" strike="noStrike">
              <a:solidFill>
                <a:srgbClr val="000000"/>
              </a:solidFill>
            </a:endParaRPr>
          </a:p>
          <a:p>
            <a:pPr indent="-368300" lvl="1" marL="914400" marR="0" rtl="0" algn="l">
              <a:lnSpc>
                <a:spcPct val="115000"/>
              </a:lnSpc>
              <a:spcBef>
                <a:spcPts val="0"/>
              </a:spcBef>
              <a:spcAft>
                <a:spcPts val="0"/>
              </a:spcAft>
              <a:buClr>
                <a:srgbClr val="000000"/>
              </a:buClr>
              <a:buSzPts val="2200"/>
              <a:buChar char="◆"/>
            </a:pPr>
            <a:r>
              <a:rPr i="0" lang="en-US" sz="2200" u="none" cap="none" strike="noStrike">
                <a:solidFill>
                  <a:srgbClr val="000000"/>
                </a:solidFill>
              </a:rPr>
              <a:t>Destination station</a:t>
            </a:r>
            <a:endParaRPr i="0" sz="2200" u="none" cap="none" strike="noStrike">
              <a:solidFill>
                <a:srgbClr val="000000"/>
              </a:solidFill>
            </a:endParaRPr>
          </a:p>
          <a:p>
            <a:pPr indent="-368300" lvl="1" marL="914400" marR="0" rtl="0" algn="l">
              <a:lnSpc>
                <a:spcPct val="115000"/>
              </a:lnSpc>
              <a:spcBef>
                <a:spcPts val="0"/>
              </a:spcBef>
              <a:spcAft>
                <a:spcPts val="0"/>
              </a:spcAft>
              <a:buClr>
                <a:srgbClr val="000000"/>
              </a:buClr>
              <a:buSzPts val="2200"/>
              <a:buChar char="◆"/>
            </a:pPr>
            <a:r>
              <a:rPr i="0" lang="en-US" sz="2200" u="none" cap="none" strike="noStrike">
                <a:solidFill>
                  <a:srgbClr val="000000"/>
                </a:solidFill>
              </a:rPr>
              <a:t>Planned arrival time (HH:MM)</a:t>
            </a:r>
            <a:endParaRPr i="0" sz="2200" u="none" cap="none" strike="noStrike">
              <a:solidFill>
                <a:srgbClr val="000000"/>
              </a:solidFill>
            </a:endParaRPr>
          </a:p>
          <a:p>
            <a:pPr indent="-368300" lvl="1" marL="914400" marR="0" rtl="0" algn="l">
              <a:lnSpc>
                <a:spcPct val="115000"/>
              </a:lnSpc>
              <a:spcBef>
                <a:spcPts val="0"/>
              </a:spcBef>
              <a:spcAft>
                <a:spcPts val="0"/>
              </a:spcAft>
              <a:buClr>
                <a:srgbClr val="000000"/>
              </a:buClr>
              <a:buSzPts val="2200"/>
              <a:buChar char="◆"/>
            </a:pPr>
            <a:r>
              <a:rPr i="0" lang="en-US" sz="2200" u="none" cap="none" strike="noStrike">
                <a:solidFill>
                  <a:srgbClr val="000000"/>
                </a:solidFill>
              </a:rPr>
              <a:t>Current station</a:t>
            </a:r>
            <a:endParaRPr i="0" sz="2200" u="none" cap="none" strike="noStrike">
              <a:solidFill>
                <a:srgbClr val="000000"/>
              </a:solidFill>
            </a:endParaRPr>
          </a:p>
          <a:p>
            <a:pPr indent="-368300" lvl="1" marL="914400" marR="0" rtl="0" algn="l">
              <a:lnSpc>
                <a:spcPct val="115000"/>
              </a:lnSpc>
              <a:spcBef>
                <a:spcPts val="0"/>
              </a:spcBef>
              <a:spcAft>
                <a:spcPts val="0"/>
              </a:spcAft>
              <a:buClr>
                <a:srgbClr val="000000"/>
              </a:buClr>
              <a:buSzPts val="2200"/>
              <a:buChar char="◆"/>
            </a:pPr>
            <a:r>
              <a:rPr i="0" lang="en-US" sz="2200" u="none" cap="none" strike="noStrike">
                <a:solidFill>
                  <a:srgbClr val="000000"/>
                </a:solidFill>
              </a:rPr>
              <a:t>Current delay (minutes)</a:t>
            </a:r>
            <a:endParaRPr i="0" sz="2200" u="none" cap="none" strike="noStrike">
              <a:solidFill>
                <a:srgbClr val="000000"/>
              </a:solidFill>
            </a:endParaRPr>
          </a:p>
          <a:p>
            <a:pPr indent="-368300" lvl="0" marL="457200" marR="0" rtl="0" algn="l">
              <a:lnSpc>
                <a:spcPct val="115000"/>
              </a:lnSpc>
              <a:spcBef>
                <a:spcPts val="0"/>
              </a:spcBef>
              <a:spcAft>
                <a:spcPts val="0"/>
              </a:spcAft>
              <a:buClr>
                <a:schemeClr val="dk1"/>
              </a:buClr>
              <a:buSzPts val="2200"/>
              <a:buChar char="➔"/>
            </a:pPr>
            <a:r>
              <a:rPr i="0" lang="en-US" sz="2200" u="none" cap="none" strike="noStrike">
                <a:solidFill>
                  <a:srgbClr val="000000"/>
                </a:solidFill>
              </a:rPr>
              <a:t>Input validated at each step</a:t>
            </a:r>
            <a:endParaRPr i="0" sz="2200" u="none" cap="none" strike="noStrike">
              <a:solidFill>
                <a:srgbClr val="000000"/>
              </a:solidFill>
            </a:endParaRPr>
          </a:p>
          <a:p>
            <a:pPr indent="-368300" lvl="0" marL="457200" marR="0" rtl="0" algn="l">
              <a:lnSpc>
                <a:spcPct val="115000"/>
              </a:lnSpc>
              <a:spcBef>
                <a:spcPts val="0"/>
              </a:spcBef>
              <a:spcAft>
                <a:spcPts val="0"/>
              </a:spcAft>
              <a:buClr>
                <a:schemeClr val="dk1"/>
              </a:buClr>
              <a:buSzPts val="2200"/>
              <a:buChar char="➔"/>
            </a:pPr>
            <a:r>
              <a:rPr i="0" lang="en-US" sz="2200" u="none" cap="none" strike="noStrike">
                <a:solidFill>
                  <a:srgbClr val="000000"/>
                </a:solidFill>
              </a:rPr>
              <a:t>Total delay = current delay + predicted additional delay</a:t>
            </a:r>
            <a:endParaRPr i="0" sz="2200" u="none" cap="none" strike="noStrike">
              <a:solidFill>
                <a:srgbClr val="000000"/>
              </a:solidFill>
            </a:endParaRPr>
          </a:p>
        </p:txBody>
      </p:sp>
      <p:sp>
        <p:nvSpPr>
          <p:cNvPr id="280" name="Google Shape;280;p20"/>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20"/>
          <p:cNvSpPr/>
          <p:nvPr/>
        </p:nvSpPr>
        <p:spPr>
          <a:xfrm>
            <a:off x="552450" y="6438900"/>
            <a:ext cx="11087100" cy="9600"/>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2"/>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22"/>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22"/>
          <p:cNvSpPr/>
          <p:nvPr/>
        </p:nvSpPr>
        <p:spPr>
          <a:xfrm>
            <a:off x="552450" y="276225"/>
            <a:ext cx="6191400" cy="171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15"/>
              <a:buFont typeface="Arial"/>
              <a:buNone/>
            </a:pPr>
            <a:r>
              <a:rPr b="1" i="0" lang="en-US" sz="715" u="none" cap="none" strike="noStrike">
                <a:solidFill>
                  <a:srgbClr val="087E83"/>
                </a:solidFill>
                <a:latin typeface="Arial"/>
                <a:ea typeface="Arial"/>
                <a:cs typeface="Arial"/>
                <a:sym typeface="Arial"/>
              </a:rPr>
              <a:t>TASK 3  /  RAILWAY DISRUPTION EXPERT SYSTEM</a:t>
            </a:r>
            <a:endParaRPr b="1" i="0" sz="715" u="none" cap="none" strike="noStrike">
              <a:solidFill>
                <a:srgbClr val="087E83"/>
              </a:solidFill>
              <a:latin typeface="Arial"/>
              <a:ea typeface="Arial"/>
              <a:cs typeface="Arial"/>
              <a:sym typeface="Arial"/>
            </a:endParaRPr>
          </a:p>
        </p:txBody>
      </p:sp>
      <p:sp>
        <p:nvSpPr>
          <p:cNvPr id="290" name="Google Shape;290;p22"/>
          <p:cNvSpPr/>
          <p:nvPr/>
        </p:nvSpPr>
        <p:spPr>
          <a:xfrm>
            <a:off x="552450" y="6438900"/>
            <a:ext cx="11087100" cy="9600"/>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22"/>
          <p:cNvSpPr/>
          <p:nvPr/>
        </p:nvSpPr>
        <p:spPr>
          <a:xfrm>
            <a:off x="552450" y="1000125"/>
            <a:ext cx="3810000" cy="552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087E83"/>
                </a:solidFill>
                <a:latin typeface="Play"/>
                <a:ea typeface="Play"/>
                <a:cs typeface="Play"/>
                <a:sym typeface="Play"/>
              </a:rPr>
              <a:t>Task 3:</a:t>
            </a:r>
            <a:endParaRPr b="1" i="0" sz="3600" u="none" cap="none" strike="noStrike">
              <a:solidFill>
                <a:srgbClr val="087E83"/>
              </a:solidFill>
              <a:latin typeface="Play"/>
              <a:ea typeface="Play"/>
              <a:cs typeface="Play"/>
              <a:sym typeface="Play"/>
            </a:endParaRPr>
          </a:p>
        </p:txBody>
      </p:sp>
      <p:sp>
        <p:nvSpPr>
          <p:cNvPr id="292" name="Google Shape;292;p22"/>
          <p:cNvSpPr/>
          <p:nvPr/>
        </p:nvSpPr>
        <p:spPr>
          <a:xfrm>
            <a:off x="552450" y="1638300"/>
            <a:ext cx="6858000" cy="12573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125"/>
              <a:buFont typeface="Arial"/>
              <a:buNone/>
            </a:pPr>
            <a:r>
              <a:rPr b="1" i="0" lang="en-US" sz="4125" u="none" cap="none" strike="noStrike">
                <a:solidFill>
                  <a:srgbClr val="102D3A"/>
                </a:solidFill>
                <a:latin typeface="Play"/>
                <a:ea typeface="Play"/>
                <a:cs typeface="Play"/>
                <a:sym typeface="Play"/>
              </a:rPr>
              <a:t>Railway Disruption</a:t>
            </a:r>
            <a:endParaRPr b="1" i="0" sz="4125" u="none" cap="none" strike="noStrike">
              <a:solidFill>
                <a:srgbClr val="102D3A"/>
              </a:solidFill>
              <a:latin typeface="Play"/>
              <a:ea typeface="Play"/>
              <a:cs typeface="Play"/>
              <a:sym typeface="Play"/>
            </a:endParaRPr>
          </a:p>
          <a:p>
            <a:pPr indent="0" lvl="0" marL="0" marR="0" rtl="0" algn="l">
              <a:lnSpc>
                <a:spcPct val="100000"/>
              </a:lnSpc>
              <a:spcBef>
                <a:spcPts val="0"/>
              </a:spcBef>
              <a:spcAft>
                <a:spcPts val="0"/>
              </a:spcAft>
              <a:buClr>
                <a:srgbClr val="000000"/>
              </a:buClr>
              <a:buSzPts val="4125"/>
              <a:buFont typeface="Arial"/>
              <a:buNone/>
            </a:pPr>
            <a:r>
              <a:rPr b="1" i="0" lang="en-US" sz="4125" u="none" cap="none" strike="noStrike">
                <a:solidFill>
                  <a:srgbClr val="102D3A"/>
                </a:solidFill>
                <a:latin typeface="Play"/>
                <a:ea typeface="Play"/>
                <a:cs typeface="Play"/>
                <a:sym typeface="Play"/>
              </a:rPr>
              <a:t>Expert System</a:t>
            </a:r>
            <a:endParaRPr b="1" i="0" sz="4125" u="none" cap="none" strike="noStrike">
              <a:solidFill>
                <a:srgbClr val="102D3A"/>
              </a:solidFill>
              <a:latin typeface="Play"/>
              <a:ea typeface="Play"/>
              <a:cs typeface="Play"/>
              <a:sym typeface="Play"/>
            </a:endParaRPr>
          </a:p>
        </p:txBody>
      </p:sp>
      <p:sp>
        <p:nvSpPr>
          <p:cNvPr id="293" name="Google Shape;293;p22"/>
          <p:cNvSpPr/>
          <p:nvPr/>
        </p:nvSpPr>
        <p:spPr>
          <a:xfrm>
            <a:off x="571500" y="3200400"/>
            <a:ext cx="6048300" cy="552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75"/>
              <a:buFont typeface="Arial"/>
              <a:buNone/>
            </a:pPr>
            <a:r>
              <a:rPr b="0" i="0" lang="en-US" sz="1575" u="none" cap="none" strike="noStrike">
                <a:solidFill>
                  <a:srgbClr val="506471"/>
                </a:solidFill>
                <a:latin typeface="Arial"/>
                <a:ea typeface="Arial"/>
                <a:cs typeface="Arial"/>
                <a:sym typeface="Arial"/>
              </a:rPr>
              <a:t>How the railway chatbot retrieves focused contingency guidance for disruption scenarios.</a:t>
            </a:r>
            <a:endParaRPr b="0" i="0" sz="1575" u="none" cap="none" strike="noStrike">
              <a:solidFill>
                <a:srgbClr val="506471"/>
              </a:solidFill>
              <a:latin typeface="Arial"/>
              <a:ea typeface="Arial"/>
              <a:cs typeface="Arial"/>
              <a:sym typeface="Arial"/>
            </a:endParaRPr>
          </a:p>
        </p:txBody>
      </p:sp>
      <p:sp>
        <p:nvSpPr>
          <p:cNvPr id="294" name="Google Shape;294;p22"/>
          <p:cNvSpPr/>
          <p:nvPr/>
        </p:nvSpPr>
        <p:spPr>
          <a:xfrm>
            <a:off x="571500" y="4105275"/>
            <a:ext cx="924000" cy="381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22"/>
          <p:cNvSpPr/>
          <p:nvPr/>
        </p:nvSpPr>
        <p:spPr>
          <a:xfrm>
            <a:off x="571500" y="4371975"/>
            <a:ext cx="5429400" cy="247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rPr b="1" i="0" lang="en-US" sz="1275" u="none" cap="none" strike="noStrike">
                <a:solidFill>
                  <a:srgbClr val="102D3A"/>
                </a:solidFill>
                <a:latin typeface="Arial"/>
                <a:ea typeface="Arial"/>
                <a:cs typeface="Arial"/>
                <a:sym typeface="Arial"/>
              </a:rPr>
              <a:t>Railway Chatbot / Staff Contingency Plan Assistant</a:t>
            </a:r>
            <a:endParaRPr b="1" i="0" sz="1275" u="none" cap="none" strike="noStrike">
              <a:solidFill>
                <a:srgbClr val="102D3A"/>
              </a:solidFill>
              <a:latin typeface="Arial"/>
              <a:ea typeface="Arial"/>
              <a:cs typeface="Arial"/>
              <a:sym typeface="Arial"/>
            </a:endParaRPr>
          </a:p>
        </p:txBody>
      </p:sp>
      <p:sp>
        <p:nvSpPr>
          <p:cNvPr id="296" name="Google Shape;296;p22"/>
          <p:cNvSpPr/>
          <p:nvPr/>
        </p:nvSpPr>
        <p:spPr>
          <a:xfrm>
            <a:off x="7381875" y="1190625"/>
            <a:ext cx="4000500" cy="4362600"/>
          </a:xfrm>
          <a:prstGeom prst="rect">
            <a:avLst/>
          </a:prstGeom>
          <a:solidFill>
            <a:srgbClr val="FFFFFF"/>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22"/>
          <p:cNvSpPr/>
          <p:nvPr/>
        </p:nvSpPr>
        <p:spPr>
          <a:xfrm>
            <a:off x="7696200" y="1495425"/>
            <a:ext cx="2857500" cy="190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87E83"/>
                </a:solidFill>
                <a:latin typeface="Arial"/>
                <a:ea typeface="Arial"/>
                <a:cs typeface="Arial"/>
                <a:sym typeface="Arial"/>
              </a:rPr>
              <a:t>CENTRAL PURPOSE</a:t>
            </a:r>
            <a:endParaRPr b="1" i="0" sz="750" u="none" cap="none" strike="noStrike">
              <a:solidFill>
                <a:srgbClr val="087E83"/>
              </a:solidFill>
              <a:latin typeface="Arial"/>
              <a:ea typeface="Arial"/>
              <a:cs typeface="Arial"/>
              <a:sym typeface="Arial"/>
            </a:endParaRPr>
          </a:p>
        </p:txBody>
      </p:sp>
      <p:sp>
        <p:nvSpPr>
          <p:cNvPr id="298" name="Google Shape;298;p22"/>
          <p:cNvSpPr/>
          <p:nvPr/>
        </p:nvSpPr>
        <p:spPr>
          <a:xfrm>
            <a:off x="7696200" y="1819275"/>
            <a:ext cx="3295800" cy="8382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102D3A"/>
                </a:solidFill>
                <a:latin typeface="Play"/>
                <a:ea typeface="Play"/>
                <a:cs typeface="Play"/>
                <a:sym typeface="Play"/>
              </a:rPr>
              <a:t>Task 3 transforms the chatbot into an explainable assistant for railway disruption planning.</a:t>
            </a:r>
            <a:endParaRPr b="1" i="0" sz="1650" u="none" cap="none" strike="noStrike">
              <a:solidFill>
                <a:srgbClr val="102D3A"/>
              </a:solidFill>
              <a:latin typeface="Play"/>
              <a:ea typeface="Play"/>
              <a:cs typeface="Play"/>
              <a:sym typeface="Play"/>
            </a:endParaRPr>
          </a:p>
        </p:txBody>
      </p:sp>
      <p:sp>
        <p:nvSpPr>
          <p:cNvPr id="299" name="Google Shape;299;p22"/>
          <p:cNvSpPr/>
          <p:nvPr/>
        </p:nvSpPr>
        <p:spPr>
          <a:xfrm>
            <a:off x="7696200" y="3114675"/>
            <a:ext cx="57300" cy="573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22"/>
          <p:cNvSpPr/>
          <p:nvPr/>
        </p:nvSpPr>
        <p:spPr>
          <a:xfrm>
            <a:off x="7867650" y="3038475"/>
            <a:ext cx="3105300" cy="514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D3A"/>
                </a:solidFill>
                <a:latin typeface="Arial"/>
                <a:ea typeface="Arial"/>
                <a:cs typeface="Arial"/>
                <a:sym typeface="Arial"/>
              </a:rPr>
              <a:t>It supports line blockage and station disruption enquiries.</a:t>
            </a:r>
            <a:endParaRPr b="0" i="0" sz="1125" u="none" cap="none" strike="noStrike">
              <a:solidFill>
                <a:srgbClr val="102D3A"/>
              </a:solidFill>
              <a:latin typeface="Arial"/>
              <a:ea typeface="Arial"/>
              <a:cs typeface="Arial"/>
              <a:sym typeface="Arial"/>
            </a:endParaRPr>
          </a:p>
        </p:txBody>
      </p:sp>
      <p:sp>
        <p:nvSpPr>
          <p:cNvPr id="301" name="Google Shape;301;p22"/>
          <p:cNvSpPr/>
          <p:nvPr/>
        </p:nvSpPr>
        <p:spPr>
          <a:xfrm>
            <a:off x="7696200" y="3781425"/>
            <a:ext cx="57300" cy="573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22"/>
          <p:cNvSpPr/>
          <p:nvPr/>
        </p:nvSpPr>
        <p:spPr>
          <a:xfrm>
            <a:off x="7867650" y="3705225"/>
            <a:ext cx="3105300" cy="609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D3A"/>
                </a:solidFill>
                <a:latin typeface="Arial"/>
                <a:ea typeface="Arial"/>
                <a:cs typeface="Arial"/>
                <a:sym typeface="Arial"/>
              </a:rPr>
              <a:t>It returns selected operational guidance for staff and passenger needs.</a:t>
            </a:r>
            <a:endParaRPr b="0" i="0" sz="1125" u="none" cap="none" strike="noStrike">
              <a:solidFill>
                <a:srgbClr val="102D3A"/>
              </a:solidFill>
              <a:latin typeface="Arial"/>
              <a:ea typeface="Arial"/>
              <a:cs typeface="Arial"/>
              <a:sym typeface="Arial"/>
            </a:endParaRPr>
          </a:p>
        </p:txBody>
      </p:sp>
      <p:sp>
        <p:nvSpPr>
          <p:cNvPr id="303" name="Google Shape;303;p22"/>
          <p:cNvSpPr/>
          <p:nvPr/>
        </p:nvSpPr>
        <p:spPr>
          <a:xfrm>
            <a:off x="7696200" y="4543425"/>
            <a:ext cx="57300" cy="57300"/>
          </a:xfrm>
          <a:prstGeom prst="rect">
            <a:avLst/>
          </a:prstGeom>
          <a:solidFill>
            <a:srgbClr val="B56C27"/>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22"/>
          <p:cNvSpPr/>
          <p:nvPr/>
        </p:nvSpPr>
        <p:spPr>
          <a:xfrm>
            <a:off x="7867650" y="4467225"/>
            <a:ext cx="3105300" cy="7431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D3A"/>
                </a:solidFill>
                <a:latin typeface="Arial"/>
                <a:ea typeface="Arial"/>
                <a:cs typeface="Arial"/>
                <a:sym typeface="Arial"/>
              </a:rPr>
              <a:t>It retrieves existing expert knowledge; it does not predict delays or control live services.</a:t>
            </a:r>
            <a:endParaRPr b="0" i="0" sz="1125" u="none" cap="none" strike="noStrike">
              <a:solidFill>
                <a:srgbClr val="102D3A"/>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3"/>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23"/>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23"/>
          <p:cNvSpPr/>
          <p:nvPr/>
        </p:nvSpPr>
        <p:spPr>
          <a:xfrm>
            <a:off x="552450" y="276225"/>
            <a:ext cx="619125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15"/>
              <a:buFont typeface="Arial"/>
              <a:buNone/>
            </a:pPr>
            <a:r>
              <a:rPr b="1" i="0" lang="en-US" sz="715" u="none" cap="none" strike="noStrike">
                <a:solidFill>
                  <a:srgbClr val="087E83"/>
                </a:solidFill>
                <a:latin typeface="Arial"/>
                <a:ea typeface="Arial"/>
                <a:cs typeface="Arial"/>
                <a:sym typeface="Arial"/>
              </a:rPr>
              <a:t>TASK 3  /  RAILWAY DISRUPTION EXPERT SYSTEM</a:t>
            </a:r>
            <a:endParaRPr b="1" i="0" sz="715" u="none" cap="none" strike="noStrike">
              <a:solidFill>
                <a:srgbClr val="087E83"/>
              </a:solidFill>
              <a:latin typeface="Arial"/>
              <a:ea typeface="Arial"/>
              <a:cs typeface="Arial"/>
              <a:sym typeface="Arial"/>
            </a:endParaRPr>
          </a:p>
        </p:txBody>
      </p:sp>
      <p:sp>
        <p:nvSpPr>
          <p:cNvPr id="313" name="Google Shape;313;p23"/>
          <p:cNvSpPr/>
          <p:nvPr/>
        </p:nvSpPr>
        <p:spPr>
          <a:xfrm>
            <a:off x="552450" y="6438900"/>
            <a:ext cx="11087100" cy="9525"/>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23"/>
          <p:cNvSpPr/>
          <p:nvPr/>
        </p:nvSpPr>
        <p:spPr>
          <a:xfrm>
            <a:off x="552450" y="647700"/>
            <a:ext cx="1066800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02D3A"/>
                </a:solidFill>
                <a:latin typeface="Play"/>
                <a:ea typeface="Play"/>
                <a:cs typeface="Play"/>
                <a:sym typeface="Play"/>
              </a:rPr>
              <a:t>What is an expert system?</a:t>
            </a:r>
            <a:endParaRPr b="1" i="0" sz="2400" u="none" cap="none" strike="noStrike">
              <a:solidFill>
                <a:srgbClr val="102D3A"/>
              </a:solidFill>
              <a:latin typeface="Play"/>
              <a:ea typeface="Play"/>
              <a:cs typeface="Play"/>
              <a:sym typeface="Play"/>
            </a:endParaRPr>
          </a:p>
        </p:txBody>
      </p:sp>
      <p:sp>
        <p:nvSpPr>
          <p:cNvPr id="315" name="Google Shape;315;p23"/>
          <p:cNvSpPr/>
          <p:nvPr/>
        </p:nvSpPr>
        <p:spPr>
          <a:xfrm>
            <a:off x="552450" y="1200150"/>
            <a:ext cx="10429875" cy="3619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506471"/>
                </a:solidFill>
                <a:latin typeface="Arial"/>
                <a:ea typeface="Arial"/>
                <a:cs typeface="Arial"/>
                <a:sym typeface="Arial"/>
              </a:rPr>
              <a:t>Task 3 is built around stored domain knowledge and reasoning logic, rather than prediction.</a:t>
            </a:r>
            <a:endParaRPr b="0" i="0" sz="1050" u="none" cap="none" strike="noStrike">
              <a:solidFill>
                <a:srgbClr val="506471"/>
              </a:solidFill>
              <a:latin typeface="Arial"/>
              <a:ea typeface="Arial"/>
              <a:cs typeface="Arial"/>
              <a:sym typeface="Arial"/>
            </a:endParaRPr>
          </a:p>
        </p:txBody>
      </p:sp>
      <p:sp>
        <p:nvSpPr>
          <p:cNvPr id="316" name="Google Shape;316;p23"/>
          <p:cNvSpPr/>
          <p:nvPr/>
        </p:nvSpPr>
        <p:spPr>
          <a:xfrm>
            <a:off x="552450" y="1828800"/>
            <a:ext cx="5181600" cy="3857625"/>
          </a:xfrm>
          <a:prstGeom prst="rect">
            <a:avLst/>
          </a:prstGeom>
          <a:solidFill>
            <a:srgbClr val="FFFFFF"/>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23"/>
          <p:cNvSpPr/>
          <p:nvPr/>
        </p:nvSpPr>
        <p:spPr>
          <a:xfrm>
            <a:off x="838200" y="2505075"/>
            <a:ext cx="4476750" cy="914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102D3A"/>
                </a:solidFill>
                <a:latin typeface="Play"/>
                <a:ea typeface="Play"/>
                <a:cs typeface="Play"/>
                <a:sym typeface="Play"/>
              </a:rPr>
              <a:t>An expert system is an AI system that uses specialist knowledge, facts and decision rules to provide advice similar to a human expert.</a:t>
            </a:r>
            <a:endParaRPr b="1" i="0" sz="1650" u="none" cap="none" strike="noStrike">
              <a:solidFill>
                <a:srgbClr val="102D3A"/>
              </a:solidFill>
              <a:latin typeface="Play"/>
              <a:ea typeface="Play"/>
              <a:cs typeface="Play"/>
              <a:sym typeface="Play"/>
            </a:endParaRPr>
          </a:p>
        </p:txBody>
      </p:sp>
      <p:sp>
        <p:nvSpPr>
          <p:cNvPr id="318" name="Google Shape;318;p23"/>
          <p:cNvSpPr/>
          <p:nvPr/>
        </p:nvSpPr>
        <p:spPr>
          <a:xfrm>
            <a:off x="838200" y="3819525"/>
            <a:ext cx="4476750" cy="8572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06471"/>
                </a:solidFill>
                <a:latin typeface="Arial"/>
                <a:ea typeface="Arial"/>
                <a:cs typeface="Arial"/>
                <a:sym typeface="Arial"/>
              </a:rPr>
              <a:t>Its value is explainability: the recommendation can be linked back to stored guidance and the information supplied by the user.</a:t>
            </a:r>
            <a:endParaRPr b="0" i="0" sz="1200" u="none" cap="none" strike="noStrike">
              <a:solidFill>
                <a:srgbClr val="506471"/>
              </a:solidFill>
              <a:latin typeface="Arial"/>
              <a:ea typeface="Arial"/>
              <a:cs typeface="Arial"/>
              <a:sym typeface="Arial"/>
            </a:endParaRPr>
          </a:p>
        </p:txBody>
      </p:sp>
      <p:sp>
        <p:nvSpPr>
          <p:cNvPr id="319" name="Google Shape;319;p23"/>
          <p:cNvSpPr/>
          <p:nvPr/>
        </p:nvSpPr>
        <p:spPr>
          <a:xfrm>
            <a:off x="838200" y="5000625"/>
            <a:ext cx="4476750" cy="400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1" i="0" lang="en-US" sz="1125" u="none" cap="none" strike="noStrike">
                <a:solidFill>
                  <a:srgbClr val="087E83"/>
                </a:solidFill>
                <a:latin typeface="Arial"/>
                <a:ea typeface="Arial"/>
                <a:cs typeface="Arial"/>
                <a:sym typeface="Arial"/>
              </a:rPr>
              <a:t>In this project, the expert domain is railway disruption response.</a:t>
            </a:r>
            <a:endParaRPr b="1" i="0" sz="1125" u="none" cap="none" strike="noStrike">
              <a:solidFill>
                <a:srgbClr val="087E83"/>
              </a:solidFill>
              <a:latin typeface="Arial"/>
              <a:ea typeface="Arial"/>
              <a:cs typeface="Arial"/>
              <a:sym typeface="Arial"/>
            </a:endParaRPr>
          </a:p>
        </p:txBody>
      </p:sp>
      <p:sp>
        <p:nvSpPr>
          <p:cNvPr id="320" name="Google Shape;320;p23"/>
          <p:cNvSpPr/>
          <p:nvPr/>
        </p:nvSpPr>
        <p:spPr>
          <a:xfrm>
            <a:off x="5981700" y="1828800"/>
            <a:ext cx="5410200" cy="3857625"/>
          </a:xfrm>
          <a:prstGeom prst="rect">
            <a:avLst/>
          </a:prstGeom>
          <a:solidFill>
            <a:srgbClr val="FFFFFF"/>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23"/>
          <p:cNvSpPr/>
          <p:nvPr/>
        </p:nvSpPr>
        <p:spPr>
          <a:xfrm>
            <a:off x="6286500" y="2105025"/>
            <a:ext cx="4286250" cy="190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87E83"/>
                </a:solidFill>
                <a:latin typeface="Arial"/>
                <a:ea typeface="Arial"/>
                <a:cs typeface="Arial"/>
                <a:sym typeface="Arial"/>
              </a:rPr>
              <a:t>HOW TH</a:t>
            </a:r>
            <a:r>
              <a:rPr b="1" lang="en-US" sz="750">
                <a:solidFill>
                  <a:srgbClr val="087E83"/>
                </a:solidFill>
              </a:rPr>
              <a:t>IS</a:t>
            </a:r>
            <a:r>
              <a:rPr b="1" i="0" lang="en-US" sz="750" u="none" cap="none" strike="noStrike">
                <a:solidFill>
                  <a:srgbClr val="087E83"/>
                </a:solidFill>
                <a:latin typeface="Arial"/>
                <a:ea typeface="Arial"/>
                <a:cs typeface="Arial"/>
                <a:sym typeface="Arial"/>
              </a:rPr>
              <a:t> APPLIES TO TASK 3</a:t>
            </a:r>
            <a:endParaRPr b="1" i="0" sz="750" u="none" cap="none" strike="noStrike">
              <a:solidFill>
                <a:srgbClr val="087E83"/>
              </a:solidFill>
              <a:latin typeface="Arial"/>
              <a:ea typeface="Arial"/>
              <a:cs typeface="Arial"/>
              <a:sym typeface="Arial"/>
            </a:endParaRPr>
          </a:p>
        </p:txBody>
      </p:sp>
      <p:sp>
        <p:nvSpPr>
          <p:cNvPr id="322" name="Google Shape;322;p23"/>
          <p:cNvSpPr/>
          <p:nvPr/>
        </p:nvSpPr>
        <p:spPr>
          <a:xfrm>
            <a:off x="6286500" y="2619375"/>
            <a:ext cx="57150" cy="5715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23"/>
          <p:cNvSpPr/>
          <p:nvPr/>
        </p:nvSpPr>
        <p:spPr>
          <a:xfrm>
            <a:off x="6457950" y="2543175"/>
            <a:ext cx="4524375" cy="61912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D3A"/>
                </a:solidFill>
                <a:latin typeface="Arial"/>
                <a:ea typeface="Arial"/>
                <a:cs typeface="Arial"/>
                <a:sym typeface="Arial"/>
              </a:rPr>
              <a:t>Knowledge base: contingency plans and station disruption guidance provide the stored operational expertise.</a:t>
            </a:r>
            <a:endParaRPr b="0" i="0" sz="1125" u="none" cap="none" strike="noStrike">
              <a:solidFill>
                <a:srgbClr val="102D3A"/>
              </a:solidFill>
              <a:latin typeface="Arial"/>
              <a:ea typeface="Arial"/>
              <a:cs typeface="Arial"/>
              <a:sym typeface="Arial"/>
            </a:endParaRPr>
          </a:p>
        </p:txBody>
      </p:sp>
      <p:sp>
        <p:nvSpPr>
          <p:cNvPr id="324" name="Google Shape;324;p23"/>
          <p:cNvSpPr/>
          <p:nvPr/>
        </p:nvSpPr>
        <p:spPr>
          <a:xfrm>
            <a:off x="6286500" y="3409950"/>
            <a:ext cx="57150" cy="5715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23"/>
          <p:cNvSpPr/>
          <p:nvPr/>
        </p:nvSpPr>
        <p:spPr>
          <a:xfrm>
            <a:off x="6457950" y="3333750"/>
            <a:ext cx="4524375" cy="7048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D3A"/>
                </a:solidFill>
                <a:latin typeface="Arial"/>
                <a:ea typeface="Arial"/>
                <a:cs typeface="Arial"/>
                <a:sym typeface="Arial"/>
              </a:rPr>
              <a:t>Reasoning: the incident type, location, blockage condition and required audience determine which guidance is returned.</a:t>
            </a:r>
            <a:endParaRPr b="0" i="0" sz="1125" u="none" cap="none" strike="noStrike">
              <a:solidFill>
                <a:srgbClr val="102D3A"/>
              </a:solidFill>
              <a:latin typeface="Arial"/>
              <a:ea typeface="Arial"/>
              <a:cs typeface="Arial"/>
              <a:sym typeface="Arial"/>
            </a:endParaRPr>
          </a:p>
        </p:txBody>
      </p:sp>
      <p:sp>
        <p:nvSpPr>
          <p:cNvPr id="326" name="Google Shape;326;p23"/>
          <p:cNvSpPr/>
          <p:nvPr/>
        </p:nvSpPr>
        <p:spPr>
          <a:xfrm>
            <a:off x="6286500" y="4276725"/>
            <a:ext cx="57150" cy="5715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23"/>
          <p:cNvSpPr/>
          <p:nvPr/>
        </p:nvSpPr>
        <p:spPr>
          <a:xfrm>
            <a:off x="6457950" y="4200525"/>
            <a:ext cx="4524375" cy="61912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D3A"/>
                </a:solidFill>
                <a:latin typeface="Arial"/>
                <a:ea typeface="Arial"/>
                <a:cs typeface="Arial"/>
                <a:sym typeface="Arial"/>
              </a:rPr>
              <a:t>Interface: a guided chatbot conversation collects missing incident details before presenting advice.</a:t>
            </a:r>
            <a:endParaRPr b="0" i="0" sz="1125" u="none" cap="none" strike="noStrike">
              <a:solidFill>
                <a:srgbClr val="102D3A"/>
              </a:solidFill>
              <a:latin typeface="Arial"/>
              <a:ea typeface="Arial"/>
              <a:cs typeface="Arial"/>
              <a:sym typeface="Arial"/>
            </a:endParaRPr>
          </a:p>
        </p:txBody>
      </p:sp>
      <p:sp>
        <p:nvSpPr>
          <p:cNvPr id="328" name="Google Shape;328;p23"/>
          <p:cNvSpPr/>
          <p:nvPr/>
        </p:nvSpPr>
        <p:spPr>
          <a:xfrm>
            <a:off x="6286500" y="5067300"/>
            <a:ext cx="57150" cy="57150"/>
          </a:xfrm>
          <a:prstGeom prst="rect">
            <a:avLst/>
          </a:prstGeom>
          <a:solidFill>
            <a:srgbClr val="B56C27"/>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23"/>
          <p:cNvSpPr/>
          <p:nvPr/>
        </p:nvSpPr>
        <p:spPr>
          <a:xfrm>
            <a:off x="6457950" y="4991100"/>
            <a:ext cx="4524375"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D3A"/>
                </a:solidFill>
                <a:latin typeface="Arial"/>
                <a:ea typeface="Arial"/>
                <a:cs typeface="Arial"/>
                <a:sym typeface="Arial"/>
              </a:rPr>
              <a:t>Difference from ML: Task 3 selects guidance; it is not trained to predict disruption outcomes.</a:t>
            </a:r>
            <a:endParaRPr b="0" i="0" sz="1125" u="none" cap="none" strike="noStrike">
              <a:solidFill>
                <a:srgbClr val="102D3A"/>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4"/>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24"/>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24"/>
          <p:cNvSpPr/>
          <p:nvPr/>
        </p:nvSpPr>
        <p:spPr>
          <a:xfrm>
            <a:off x="552450" y="276225"/>
            <a:ext cx="619125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15"/>
              <a:buFont typeface="Arial"/>
              <a:buNone/>
            </a:pPr>
            <a:r>
              <a:rPr b="1" i="0" lang="en-US" sz="715" u="none" cap="none" strike="noStrike">
                <a:solidFill>
                  <a:srgbClr val="087E83"/>
                </a:solidFill>
                <a:latin typeface="Arial"/>
                <a:ea typeface="Arial"/>
                <a:cs typeface="Arial"/>
                <a:sym typeface="Arial"/>
              </a:rPr>
              <a:t>TASK 3  /  RAILWAY DISRUPTION EXPERT SYSTEM</a:t>
            </a:r>
            <a:endParaRPr b="1" i="0" sz="715" u="none" cap="none" strike="noStrike">
              <a:solidFill>
                <a:srgbClr val="087E83"/>
              </a:solidFill>
              <a:latin typeface="Arial"/>
              <a:ea typeface="Arial"/>
              <a:cs typeface="Arial"/>
              <a:sym typeface="Arial"/>
            </a:endParaRPr>
          </a:p>
        </p:txBody>
      </p:sp>
      <p:sp>
        <p:nvSpPr>
          <p:cNvPr id="338" name="Google Shape;338;p24"/>
          <p:cNvSpPr/>
          <p:nvPr/>
        </p:nvSpPr>
        <p:spPr>
          <a:xfrm>
            <a:off x="8782050" y="276225"/>
            <a:ext cx="285750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5"/>
              <a:buFont typeface="Arial"/>
              <a:buNone/>
            </a:pPr>
            <a:r>
              <a:t/>
            </a:r>
            <a:endParaRPr b="1" i="0" sz="715" u="none" cap="none" strike="noStrike">
              <a:solidFill>
                <a:srgbClr val="506471"/>
              </a:solidFill>
              <a:latin typeface="Arial"/>
              <a:ea typeface="Arial"/>
              <a:cs typeface="Arial"/>
              <a:sym typeface="Arial"/>
            </a:endParaRPr>
          </a:p>
        </p:txBody>
      </p:sp>
      <p:sp>
        <p:nvSpPr>
          <p:cNvPr id="339" name="Google Shape;339;p24"/>
          <p:cNvSpPr/>
          <p:nvPr/>
        </p:nvSpPr>
        <p:spPr>
          <a:xfrm>
            <a:off x="552450" y="6438900"/>
            <a:ext cx="11087100" cy="9525"/>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24"/>
          <p:cNvSpPr/>
          <p:nvPr/>
        </p:nvSpPr>
        <p:spPr>
          <a:xfrm>
            <a:off x="535044" y="647700"/>
            <a:ext cx="1066800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02D3A"/>
                </a:solidFill>
                <a:latin typeface="Play"/>
                <a:ea typeface="Play"/>
                <a:cs typeface="Play"/>
                <a:sym typeface="Play"/>
              </a:rPr>
              <a:t>Why </a:t>
            </a:r>
            <a:r>
              <a:rPr b="1" lang="en-US" sz="2400">
                <a:solidFill>
                  <a:srgbClr val="102D3A"/>
                </a:solidFill>
                <a:latin typeface="Play"/>
                <a:ea typeface="Play"/>
                <a:cs typeface="Play"/>
                <a:sym typeface="Play"/>
              </a:rPr>
              <a:t>expert system </a:t>
            </a:r>
            <a:r>
              <a:rPr b="1" i="0" lang="en-US" sz="2400" u="none" cap="none" strike="noStrike">
                <a:solidFill>
                  <a:srgbClr val="102D3A"/>
                </a:solidFill>
                <a:latin typeface="Play"/>
                <a:ea typeface="Play"/>
                <a:cs typeface="Play"/>
                <a:sym typeface="Play"/>
              </a:rPr>
              <a:t> is needed ??</a:t>
            </a:r>
            <a:endParaRPr b="1" i="0" sz="2400" u="none" cap="none" strike="noStrike">
              <a:solidFill>
                <a:srgbClr val="102D3A"/>
              </a:solidFill>
              <a:latin typeface="Play"/>
              <a:ea typeface="Play"/>
              <a:cs typeface="Play"/>
              <a:sym typeface="Play"/>
            </a:endParaRPr>
          </a:p>
        </p:txBody>
      </p:sp>
      <p:sp>
        <p:nvSpPr>
          <p:cNvPr id="341" name="Google Shape;341;p24"/>
          <p:cNvSpPr/>
          <p:nvPr/>
        </p:nvSpPr>
        <p:spPr>
          <a:xfrm>
            <a:off x="552450" y="1200150"/>
            <a:ext cx="10429875" cy="3619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506471"/>
                </a:solidFill>
                <a:latin typeface="Arial"/>
                <a:ea typeface="Arial"/>
                <a:cs typeface="Arial"/>
                <a:sym typeface="Arial"/>
              </a:rPr>
              <a:t>Railway disruption decisions depend on finding the right instruction quickly and consistently.</a:t>
            </a:r>
            <a:endParaRPr b="0" i="0" sz="1050" u="none" cap="none" strike="noStrike">
              <a:solidFill>
                <a:srgbClr val="506471"/>
              </a:solidFill>
              <a:latin typeface="Arial"/>
              <a:ea typeface="Arial"/>
              <a:cs typeface="Arial"/>
              <a:sym typeface="Arial"/>
            </a:endParaRPr>
          </a:p>
        </p:txBody>
      </p:sp>
      <p:sp>
        <p:nvSpPr>
          <p:cNvPr id="342" name="Google Shape;342;p24"/>
          <p:cNvSpPr/>
          <p:nvPr/>
        </p:nvSpPr>
        <p:spPr>
          <a:xfrm>
            <a:off x="552450" y="1838325"/>
            <a:ext cx="5276850" cy="3933825"/>
          </a:xfrm>
          <a:prstGeom prst="rect">
            <a:avLst/>
          </a:prstGeom>
          <a:solidFill>
            <a:srgbClr val="FFFFFF"/>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24"/>
          <p:cNvSpPr/>
          <p:nvPr/>
        </p:nvSpPr>
        <p:spPr>
          <a:xfrm>
            <a:off x="857250" y="2114550"/>
            <a:ext cx="4000500" cy="190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87E83"/>
                </a:solidFill>
                <a:latin typeface="Arial"/>
                <a:ea typeface="Arial"/>
                <a:cs typeface="Arial"/>
                <a:sym typeface="Arial"/>
              </a:rPr>
              <a:t>THE OPERATIONAL PROBLEM</a:t>
            </a:r>
            <a:endParaRPr b="1" i="0" sz="750" u="none" cap="none" strike="noStrike">
              <a:solidFill>
                <a:srgbClr val="087E83"/>
              </a:solidFill>
              <a:latin typeface="Arial"/>
              <a:ea typeface="Arial"/>
              <a:cs typeface="Arial"/>
              <a:sym typeface="Arial"/>
            </a:endParaRPr>
          </a:p>
        </p:txBody>
      </p:sp>
      <p:sp>
        <p:nvSpPr>
          <p:cNvPr id="344" name="Google Shape;344;p24"/>
          <p:cNvSpPr/>
          <p:nvPr/>
        </p:nvSpPr>
        <p:spPr>
          <a:xfrm>
            <a:off x="857250" y="2628900"/>
            <a:ext cx="57150" cy="5715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24"/>
          <p:cNvSpPr/>
          <p:nvPr/>
        </p:nvSpPr>
        <p:spPr>
          <a:xfrm>
            <a:off x="1028700" y="2552700"/>
            <a:ext cx="4448175" cy="781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D3A"/>
                </a:solidFill>
                <a:latin typeface="Arial"/>
                <a:ea typeface="Arial"/>
                <a:cs typeface="Arial"/>
                <a:sym typeface="Arial"/>
              </a:rPr>
              <a:t>Disruption guidance is distributed through line contingency plans and station disruption documents, with different information for different roles.</a:t>
            </a:r>
            <a:endParaRPr b="0" i="0" sz="1125" u="none" cap="none" strike="noStrike">
              <a:solidFill>
                <a:srgbClr val="102D3A"/>
              </a:solidFill>
              <a:latin typeface="Arial"/>
              <a:ea typeface="Arial"/>
              <a:cs typeface="Arial"/>
              <a:sym typeface="Arial"/>
            </a:endParaRPr>
          </a:p>
        </p:txBody>
      </p:sp>
      <p:sp>
        <p:nvSpPr>
          <p:cNvPr id="346" name="Google Shape;346;p24"/>
          <p:cNvSpPr/>
          <p:nvPr/>
        </p:nvSpPr>
        <p:spPr>
          <a:xfrm>
            <a:off x="857250" y="3629025"/>
            <a:ext cx="57150" cy="5715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24"/>
          <p:cNvSpPr/>
          <p:nvPr/>
        </p:nvSpPr>
        <p:spPr>
          <a:xfrm>
            <a:off x="1028700" y="3552825"/>
            <a:ext cx="4448175" cy="7239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D3A"/>
                </a:solidFill>
                <a:latin typeface="Arial"/>
                <a:ea typeface="Arial"/>
                <a:cs typeface="Arial"/>
                <a:sym typeface="Arial"/>
              </a:rPr>
              <a:t>Manual document searching can be slow during an incident and may lead to inconsistent retrieval of relevant advice.</a:t>
            </a:r>
            <a:endParaRPr b="0" i="0" sz="1125" u="none" cap="none" strike="noStrike">
              <a:solidFill>
                <a:srgbClr val="102D3A"/>
              </a:solidFill>
              <a:latin typeface="Arial"/>
              <a:ea typeface="Arial"/>
              <a:cs typeface="Arial"/>
              <a:sym typeface="Arial"/>
            </a:endParaRPr>
          </a:p>
        </p:txBody>
      </p:sp>
      <p:sp>
        <p:nvSpPr>
          <p:cNvPr id="348" name="Google Shape;348;p24"/>
          <p:cNvSpPr/>
          <p:nvPr/>
        </p:nvSpPr>
        <p:spPr>
          <a:xfrm>
            <a:off x="857250" y="4572000"/>
            <a:ext cx="57150" cy="5715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24"/>
          <p:cNvSpPr/>
          <p:nvPr/>
        </p:nvSpPr>
        <p:spPr>
          <a:xfrm>
            <a:off x="1028700" y="4495800"/>
            <a:ext cx="4448175" cy="71437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D3A"/>
                </a:solidFill>
                <a:latin typeface="Arial"/>
                <a:ea typeface="Arial"/>
                <a:cs typeface="Arial"/>
                <a:sym typeface="Arial"/>
              </a:rPr>
              <a:t>Users may know the incident location and need, but not which source document contains the correct procedure.</a:t>
            </a:r>
            <a:endParaRPr b="0" i="0" sz="1125" u="none" cap="none" strike="noStrike">
              <a:solidFill>
                <a:srgbClr val="102D3A"/>
              </a:solidFill>
              <a:latin typeface="Arial"/>
              <a:ea typeface="Arial"/>
              <a:cs typeface="Arial"/>
              <a:sym typeface="Arial"/>
            </a:endParaRPr>
          </a:p>
        </p:txBody>
      </p:sp>
      <p:sp>
        <p:nvSpPr>
          <p:cNvPr id="350" name="Google Shape;350;p24"/>
          <p:cNvSpPr/>
          <p:nvPr/>
        </p:nvSpPr>
        <p:spPr>
          <a:xfrm>
            <a:off x="6076950" y="1838325"/>
            <a:ext cx="5314950" cy="3933825"/>
          </a:xfrm>
          <a:prstGeom prst="rect">
            <a:avLst/>
          </a:prstGeom>
          <a:solidFill>
            <a:srgbClr val="DDECEC"/>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24"/>
          <p:cNvSpPr/>
          <p:nvPr/>
        </p:nvSpPr>
        <p:spPr>
          <a:xfrm>
            <a:off x="6381750" y="2114550"/>
            <a:ext cx="4000500" cy="190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87E83"/>
                </a:solidFill>
                <a:latin typeface="Arial"/>
                <a:ea typeface="Arial"/>
                <a:cs typeface="Arial"/>
                <a:sym typeface="Arial"/>
              </a:rPr>
              <a:t>TASK 3 SCOPE</a:t>
            </a:r>
            <a:endParaRPr b="1" i="0" sz="750" u="none" cap="none" strike="noStrike">
              <a:solidFill>
                <a:srgbClr val="087E83"/>
              </a:solidFill>
              <a:latin typeface="Arial"/>
              <a:ea typeface="Arial"/>
              <a:cs typeface="Arial"/>
              <a:sym typeface="Arial"/>
            </a:endParaRPr>
          </a:p>
        </p:txBody>
      </p:sp>
      <p:sp>
        <p:nvSpPr>
          <p:cNvPr id="352" name="Google Shape;352;p24"/>
          <p:cNvSpPr/>
          <p:nvPr/>
        </p:nvSpPr>
        <p:spPr>
          <a:xfrm>
            <a:off x="6381750" y="2533650"/>
            <a:ext cx="4381500" cy="2667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102D3A"/>
                </a:solidFill>
                <a:latin typeface="Arial"/>
                <a:ea typeface="Arial"/>
                <a:cs typeface="Arial"/>
                <a:sym typeface="Arial"/>
              </a:rPr>
              <a:t>Two supported disruption scenarios</a:t>
            </a:r>
            <a:endParaRPr b="1" i="0" sz="1350" u="none" cap="none" strike="noStrike">
              <a:solidFill>
                <a:srgbClr val="102D3A"/>
              </a:solidFill>
              <a:latin typeface="Arial"/>
              <a:ea typeface="Arial"/>
              <a:cs typeface="Arial"/>
              <a:sym typeface="Arial"/>
            </a:endParaRPr>
          </a:p>
        </p:txBody>
      </p:sp>
      <p:sp>
        <p:nvSpPr>
          <p:cNvPr id="353" name="Google Shape;353;p24"/>
          <p:cNvSpPr/>
          <p:nvPr/>
        </p:nvSpPr>
        <p:spPr>
          <a:xfrm>
            <a:off x="6381750" y="3048000"/>
            <a:ext cx="57150" cy="5715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24"/>
          <p:cNvSpPr/>
          <p:nvPr/>
        </p:nvSpPr>
        <p:spPr>
          <a:xfrm>
            <a:off x="6553200" y="2971800"/>
            <a:ext cx="4448175" cy="685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D3A"/>
                </a:solidFill>
                <a:latin typeface="Arial"/>
                <a:ea typeface="Arial"/>
                <a:cs typeface="Arial"/>
                <a:sym typeface="Arial"/>
              </a:rPr>
              <a:t>Line blockage: the assistant collects an affected line section and whether the blockage is partial or full.</a:t>
            </a:r>
            <a:endParaRPr b="0" i="0" sz="1125" u="none" cap="none" strike="noStrike">
              <a:solidFill>
                <a:srgbClr val="102D3A"/>
              </a:solidFill>
              <a:latin typeface="Arial"/>
              <a:ea typeface="Arial"/>
              <a:cs typeface="Arial"/>
              <a:sym typeface="Arial"/>
            </a:endParaRPr>
          </a:p>
        </p:txBody>
      </p:sp>
      <p:sp>
        <p:nvSpPr>
          <p:cNvPr id="355" name="Google Shape;355;p24"/>
          <p:cNvSpPr/>
          <p:nvPr/>
        </p:nvSpPr>
        <p:spPr>
          <a:xfrm>
            <a:off x="6381750" y="3905250"/>
            <a:ext cx="57150" cy="5715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24"/>
          <p:cNvSpPr/>
          <p:nvPr/>
        </p:nvSpPr>
        <p:spPr>
          <a:xfrm>
            <a:off x="6553200" y="3829050"/>
            <a:ext cx="4448175" cy="590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D3A"/>
                </a:solidFill>
                <a:latin typeface="Arial"/>
                <a:ea typeface="Arial"/>
                <a:cs typeface="Arial"/>
                <a:sym typeface="Arial"/>
              </a:rPr>
              <a:t>Station disruption: the assistant collects the affected station and the required type of guidance.</a:t>
            </a:r>
            <a:endParaRPr b="0" i="0" sz="1125" u="none" cap="none" strike="noStrike">
              <a:solidFill>
                <a:srgbClr val="102D3A"/>
              </a:solidFill>
              <a:latin typeface="Arial"/>
              <a:ea typeface="Arial"/>
              <a:cs typeface="Arial"/>
              <a:sym typeface="Arial"/>
            </a:endParaRPr>
          </a:p>
        </p:txBody>
      </p:sp>
      <p:sp>
        <p:nvSpPr>
          <p:cNvPr id="357" name="Google Shape;357;p24"/>
          <p:cNvSpPr/>
          <p:nvPr/>
        </p:nvSpPr>
        <p:spPr>
          <a:xfrm>
            <a:off x="6381750" y="4676775"/>
            <a:ext cx="57150" cy="57150"/>
          </a:xfrm>
          <a:prstGeom prst="rect">
            <a:avLst/>
          </a:prstGeom>
          <a:solidFill>
            <a:srgbClr val="B56C27"/>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24"/>
          <p:cNvSpPr/>
          <p:nvPr/>
        </p:nvSpPr>
        <p:spPr>
          <a:xfrm>
            <a:off x="6553200" y="4600575"/>
            <a:ext cx="4448175" cy="73342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D3A"/>
                </a:solidFill>
                <a:latin typeface="Arial"/>
                <a:ea typeface="Arial"/>
                <a:cs typeface="Arial"/>
                <a:sym typeface="Arial"/>
              </a:rPr>
              <a:t>Purpose: provide a faster guided route to focused existing contingency advice, not create new railway rules.</a:t>
            </a:r>
            <a:endParaRPr b="0" i="0" sz="1125" u="none" cap="none" strike="noStrike">
              <a:solidFill>
                <a:srgbClr val="102D3A"/>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25"/>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25"/>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25"/>
          <p:cNvSpPr/>
          <p:nvPr/>
        </p:nvSpPr>
        <p:spPr>
          <a:xfrm>
            <a:off x="552450" y="276225"/>
            <a:ext cx="619125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15"/>
              <a:buFont typeface="Arial"/>
              <a:buNone/>
            </a:pPr>
            <a:r>
              <a:rPr b="1" i="0" lang="en-US" sz="715" u="none" cap="none" strike="noStrike">
                <a:solidFill>
                  <a:srgbClr val="087E83"/>
                </a:solidFill>
                <a:latin typeface="Arial"/>
                <a:ea typeface="Arial"/>
                <a:cs typeface="Arial"/>
                <a:sym typeface="Arial"/>
              </a:rPr>
              <a:t>TASK 3  /  RAILWAY DISRUPTION EXPERT SYSTEM</a:t>
            </a:r>
            <a:endParaRPr b="1" i="0" sz="715" u="none" cap="none" strike="noStrike">
              <a:solidFill>
                <a:srgbClr val="087E83"/>
              </a:solidFill>
              <a:latin typeface="Arial"/>
              <a:ea typeface="Arial"/>
              <a:cs typeface="Arial"/>
              <a:sym typeface="Arial"/>
            </a:endParaRPr>
          </a:p>
        </p:txBody>
      </p:sp>
      <p:sp>
        <p:nvSpPr>
          <p:cNvPr id="367" name="Google Shape;367;p25"/>
          <p:cNvSpPr/>
          <p:nvPr/>
        </p:nvSpPr>
        <p:spPr>
          <a:xfrm>
            <a:off x="8782050" y="276225"/>
            <a:ext cx="285750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5"/>
              <a:buFont typeface="Arial"/>
              <a:buNone/>
            </a:pPr>
            <a:r>
              <a:rPr b="1" i="0" lang="en-US" sz="715" u="none" cap="none" strike="noStrike">
                <a:solidFill>
                  <a:srgbClr val="506471"/>
                </a:solidFill>
                <a:latin typeface="Arial"/>
                <a:ea typeface="Arial"/>
                <a:cs typeface="Arial"/>
                <a:sym typeface="Arial"/>
              </a:rPr>
              <a:t>KNOWLEDGE BASE</a:t>
            </a:r>
            <a:endParaRPr b="1" i="0" sz="715" u="none" cap="none" strike="noStrike">
              <a:solidFill>
                <a:srgbClr val="506471"/>
              </a:solidFill>
              <a:latin typeface="Arial"/>
              <a:ea typeface="Arial"/>
              <a:cs typeface="Arial"/>
              <a:sym typeface="Arial"/>
            </a:endParaRPr>
          </a:p>
        </p:txBody>
      </p:sp>
      <p:sp>
        <p:nvSpPr>
          <p:cNvPr id="368" name="Google Shape;368;p25"/>
          <p:cNvSpPr/>
          <p:nvPr/>
        </p:nvSpPr>
        <p:spPr>
          <a:xfrm>
            <a:off x="552450" y="6438900"/>
            <a:ext cx="11087100" cy="9525"/>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25"/>
          <p:cNvSpPr/>
          <p:nvPr/>
        </p:nvSpPr>
        <p:spPr>
          <a:xfrm>
            <a:off x="552450" y="647700"/>
            <a:ext cx="1066800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02D3A"/>
                </a:solidFill>
                <a:latin typeface="Play"/>
                <a:ea typeface="Play"/>
                <a:cs typeface="Play"/>
                <a:sym typeface="Play"/>
              </a:rPr>
              <a:t>How expert knowledge was prepared</a:t>
            </a:r>
            <a:endParaRPr b="1" i="0" sz="2400" u="none" cap="none" strike="noStrike">
              <a:solidFill>
                <a:srgbClr val="102D3A"/>
              </a:solidFill>
              <a:latin typeface="Play"/>
              <a:ea typeface="Play"/>
              <a:cs typeface="Play"/>
              <a:sym typeface="Play"/>
            </a:endParaRPr>
          </a:p>
        </p:txBody>
      </p:sp>
      <p:sp>
        <p:nvSpPr>
          <p:cNvPr id="370" name="Google Shape;370;p25"/>
          <p:cNvSpPr/>
          <p:nvPr/>
        </p:nvSpPr>
        <p:spPr>
          <a:xfrm>
            <a:off x="552450" y="1200150"/>
            <a:ext cx="10429875" cy="3619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506471"/>
                </a:solidFill>
                <a:latin typeface="Arial"/>
                <a:ea typeface="Arial"/>
                <a:cs typeface="Arial"/>
                <a:sym typeface="Arial"/>
              </a:rPr>
              <a:t>The system turns operational documents into structured records and searchable semantic rule chunks.</a:t>
            </a:r>
            <a:endParaRPr b="0" i="0" sz="1050" u="none" cap="none" strike="noStrike">
              <a:solidFill>
                <a:srgbClr val="506471"/>
              </a:solidFill>
              <a:latin typeface="Arial"/>
              <a:ea typeface="Arial"/>
              <a:cs typeface="Arial"/>
              <a:sym typeface="Arial"/>
            </a:endParaRPr>
          </a:p>
        </p:txBody>
      </p:sp>
      <p:sp>
        <p:nvSpPr>
          <p:cNvPr id="371" name="Google Shape;371;p25"/>
          <p:cNvSpPr/>
          <p:nvPr/>
        </p:nvSpPr>
        <p:spPr>
          <a:xfrm>
            <a:off x="552450" y="1819275"/>
            <a:ext cx="4762500" cy="190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87E83"/>
                </a:solidFill>
                <a:latin typeface="Arial"/>
                <a:ea typeface="Arial"/>
                <a:cs typeface="Arial"/>
                <a:sym typeface="Arial"/>
              </a:rPr>
              <a:t>KNOWLEDGE SOURCE AND STORED USE</a:t>
            </a:r>
            <a:endParaRPr b="1" i="0" sz="750" u="none" cap="none" strike="noStrike">
              <a:solidFill>
                <a:srgbClr val="087E83"/>
              </a:solidFill>
              <a:latin typeface="Arial"/>
              <a:ea typeface="Arial"/>
              <a:cs typeface="Arial"/>
              <a:sym typeface="Arial"/>
            </a:endParaRPr>
          </a:p>
        </p:txBody>
      </p:sp>
      <p:sp>
        <p:nvSpPr>
          <p:cNvPr id="372" name="Google Shape;372;p25"/>
          <p:cNvSpPr/>
          <p:nvPr/>
        </p:nvSpPr>
        <p:spPr>
          <a:xfrm>
            <a:off x="552450" y="2133600"/>
            <a:ext cx="2590800" cy="342900"/>
          </a:xfrm>
          <a:prstGeom prst="rect">
            <a:avLst/>
          </a:prstGeom>
          <a:solidFill>
            <a:srgbClr val="102D3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25"/>
          <p:cNvSpPr/>
          <p:nvPr/>
        </p:nvSpPr>
        <p:spPr>
          <a:xfrm>
            <a:off x="685800" y="2228850"/>
            <a:ext cx="232410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25"/>
              <a:buFont typeface="Arial"/>
              <a:buNone/>
            </a:pPr>
            <a:r>
              <a:rPr b="1" i="0" lang="en-US" sz="825" u="none" cap="none" strike="noStrike">
                <a:solidFill>
                  <a:srgbClr val="FFFFFF"/>
                </a:solidFill>
                <a:latin typeface="Arial"/>
                <a:ea typeface="Arial"/>
                <a:cs typeface="Arial"/>
                <a:sym typeface="Arial"/>
              </a:rPr>
              <a:t>Source material</a:t>
            </a:r>
            <a:endParaRPr b="1" i="0" sz="825" u="none" cap="none" strike="noStrike">
              <a:solidFill>
                <a:srgbClr val="FFFFFF"/>
              </a:solidFill>
              <a:latin typeface="Arial"/>
              <a:ea typeface="Arial"/>
              <a:cs typeface="Arial"/>
              <a:sym typeface="Arial"/>
            </a:endParaRPr>
          </a:p>
        </p:txBody>
      </p:sp>
      <p:sp>
        <p:nvSpPr>
          <p:cNvPr id="374" name="Google Shape;374;p25"/>
          <p:cNvSpPr/>
          <p:nvPr/>
        </p:nvSpPr>
        <p:spPr>
          <a:xfrm>
            <a:off x="3143250" y="2133600"/>
            <a:ext cx="3581400" cy="342900"/>
          </a:xfrm>
          <a:prstGeom prst="rect">
            <a:avLst/>
          </a:prstGeom>
          <a:solidFill>
            <a:srgbClr val="102D3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25"/>
          <p:cNvSpPr/>
          <p:nvPr/>
        </p:nvSpPr>
        <p:spPr>
          <a:xfrm>
            <a:off x="3276600" y="2228850"/>
            <a:ext cx="331470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25"/>
              <a:buFont typeface="Arial"/>
              <a:buNone/>
            </a:pPr>
            <a:r>
              <a:rPr b="1" i="0" lang="en-US" sz="825" u="none" cap="none" strike="noStrike">
                <a:solidFill>
                  <a:srgbClr val="FFFFFF"/>
                </a:solidFill>
                <a:latin typeface="Arial"/>
                <a:ea typeface="Arial"/>
                <a:cs typeface="Arial"/>
                <a:sym typeface="Arial"/>
              </a:rPr>
              <a:t>Content captured</a:t>
            </a:r>
            <a:endParaRPr b="1" i="0" sz="825" u="none" cap="none" strike="noStrike">
              <a:solidFill>
                <a:srgbClr val="FFFFFF"/>
              </a:solidFill>
              <a:latin typeface="Arial"/>
              <a:ea typeface="Arial"/>
              <a:cs typeface="Arial"/>
              <a:sym typeface="Arial"/>
            </a:endParaRPr>
          </a:p>
        </p:txBody>
      </p:sp>
      <p:sp>
        <p:nvSpPr>
          <p:cNvPr id="376" name="Google Shape;376;p25"/>
          <p:cNvSpPr/>
          <p:nvPr/>
        </p:nvSpPr>
        <p:spPr>
          <a:xfrm>
            <a:off x="6724650" y="2133600"/>
            <a:ext cx="4667250" cy="342900"/>
          </a:xfrm>
          <a:prstGeom prst="rect">
            <a:avLst/>
          </a:prstGeom>
          <a:solidFill>
            <a:srgbClr val="102D3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25"/>
          <p:cNvSpPr/>
          <p:nvPr/>
        </p:nvSpPr>
        <p:spPr>
          <a:xfrm>
            <a:off x="6858000" y="2228850"/>
            <a:ext cx="440055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25"/>
              <a:buFont typeface="Arial"/>
              <a:buNone/>
            </a:pPr>
            <a:r>
              <a:rPr b="1" i="0" lang="en-US" sz="825" u="none" cap="none" strike="noStrike">
                <a:solidFill>
                  <a:srgbClr val="FFFFFF"/>
                </a:solidFill>
                <a:latin typeface="Arial"/>
                <a:ea typeface="Arial"/>
                <a:cs typeface="Arial"/>
                <a:sym typeface="Arial"/>
              </a:rPr>
              <a:t>How </a:t>
            </a:r>
            <a:r>
              <a:rPr b="1" lang="en-US" sz="825">
                <a:solidFill>
                  <a:srgbClr val="FFFFFF"/>
                </a:solidFill>
              </a:rPr>
              <a:t>it</a:t>
            </a:r>
            <a:r>
              <a:rPr b="1" i="0" lang="en-US" sz="825" u="none" cap="none" strike="noStrike">
                <a:solidFill>
                  <a:srgbClr val="FFFFFF"/>
                </a:solidFill>
                <a:latin typeface="Arial"/>
                <a:ea typeface="Arial"/>
                <a:cs typeface="Arial"/>
                <a:sym typeface="Arial"/>
              </a:rPr>
              <a:t> uses </a:t>
            </a:r>
            <a:endParaRPr b="1" i="0" sz="825" u="none" cap="none" strike="noStrike">
              <a:solidFill>
                <a:srgbClr val="FFFFFF"/>
              </a:solidFill>
              <a:latin typeface="Arial"/>
              <a:ea typeface="Arial"/>
              <a:cs typeface="Arial"/>
              <a:sym typeface="Arial"/>
            </a:endParaRPr>
          </a:p>
        </p:txBody>
      </p:sp>
      <p:sp>
        <p:nvSpPr>
          <p:cNvPr id="378" name="Google Shape;378;p25"/>
          <p:cNvSpPr/>
          <p:nvPr/>
        </p:nvSpPr>
        <p:spPr>
          <a:xfrm>
            <a:off x="552450" y="2476500"/>
            <a:ext cx="2590800" cy="666750"/>
          </a:xfrm>
          <a:prstGeom prst="rect">
            <a:avLst/>
          </a:prstGeom>
          <a:solidFill>
            <a:srgbClr val="FFFFFF"/>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25"/>
          <p:cNvSpPr/>
          <p:nvPr/>
        </p:nvSpPr>
        <p:spPr>
          <a:xfrm>
            <a:off x="685800" y="2590800"/>
            <a:ext cx="2324100" cy="48577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39"/>
              <a:buFont typeface="Arial"/>
              <a:buNone/>
            </a:pPr>
            <a:r>
              <a:rPr b="1" i="0" lang="en-US" sz="940" u="none" cap="none" strike="noStrike">
                <a:solidFill>
                  <a:srgbClr val="102D3A"/>
                </a:solidFill>
                <a:latin typeface="Arial"/>
                <a:ea typeface="Arial"/>
                <a:cs typeface="Arial"/>
                <a:sym typeface="Arial"/>
              </a:rPr>
              <a:t>Line contingency plans</a:t>
            </a:r>
            <a:endParaRPr b="1" i="0" sz="940" u="none" cap="none" strike="noStrike">
              <a:solidFill>
                <a:srgbClr val="102D3A"/>
              </a:solidFill>
              <a:latin typeface="Arial"/>
              <a:ea typeface="Arial"/>
              <a:cs typeface="Arial"/>
              <a:sym typeface="Arial"/>
            </a:endParaRPr>
          </a:p>
        </p:txBody>
      </p:sp>
      <p:sp>
        <p:nvSpPr>
          <p:cNvPr id="380" name="Google Shape;380;p25"/>
          <p:cNvSpPr/>
          <p:nvPr/>
        </p:nvSpPr>
        <p:spPr>
          <a:xfrm>
            <a:off x="3143250" y="2476500"/>
            <a:ext cx="3581400" cy="666750"/>
          </a:xfrm>
          <a:prstGeom prst="rect">
            <a:avLst/>
          </a:prstGeom>
          <a:solidFill>
            <a:srgbClr val="FFFFFF"/>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25"/>
          <p:cNvSpPr/>
          <p:nvPr/>
        </p:nvSpPr>
        <p:spPr>
          <a:xfrm>
            <a:off x="3276600" y="2590800"/>
            <a:ext cx="3314700" cy="48577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39"/>
              <a:buFont typeface="Arial"/>
              <a:buNone/>
            </a:pPr>
            <a:r>
              <a:rPr b="0" i="0" lang="en-US" sz="940" u="none" cap="none" strike="noStrike">
                <a:solidFill>
                  <a:srgbClr val="506471"/>
                </a:solidFill>
                <a:latin typeface="Arial"/>
                <a:ea typeface="Arial"/>
                <a:cs typeface="Arial"/>
                <a:sym typeface="Arial"/>
              </a:rPr>
              <a:t>Route sections, blockage type and role-specific advice</a:t>
            </a:r>
            <a:endParaRPr b="0" i="0" sz="940" u="none" cap="none" strike="noStrike">
              <a:solidFill>
                <a:srgbClr val="506471"/>
              </a:solidFill>
              <a:latin typeface="Arial"/>
              <a:ea typeface="Arial"/>
              <a:cs typeface="Arial"/>
              <a:sym typeface="Arial"/>
            </a:endParaRPr>
          </a:p>
        </p:txBody>
      </p:sp>
      <p:sp>
        <p:nvSpPr>
          <p:cNvPr id="382" name="Google Shape;382;p25"/>
          <p:cNvSpPr/>
          <p:nvPr/>
        </p:nvSpPr>
        <p:spPr>
          <a:xfrm>
            <a:off x="6724650" y="2476500"/>
            <a:ext cx="4667250" cy="666750"/>
          </a:xfrm>
          <a:prstGeom prst="rect">
            <a:avLst/>
          </a:prstGeom>
          <a:solidFill>
            <a:srgbClr val="FFFFFF"/>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25"/>
          <p:cNvSpPr/>
          <p:nvPr/>
        </p:nvSpPr>
        <p:spPr>
          <a:xfrm>
            <a:off x="6858000" y="2590800"/>
            <a:ext cx="4400550" cy="48577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39"/>
              <a:buFont typeface="Arial"/>
              <a:buNone/>
            </a:pPr>
            <a:r>
              <a:rPr b="0" i="0" lang="en-US" sz="940" u="none" cap="none" strike="noStrike">
                <a:solidFill>
                  <a:srgbClr val="506471"/>
                </a:solidFill>
                <a:latin typeface="Arial"/>
                <a:ea typeface="Arial"/>
                <a:cs typeface="Arial"/>
                <a:sym typeface="Arial"/>
              </a:rPr>
              <a:t>SQLite supports exact plan selection for line blockage requests.</a:t>
            </a:r>
            <a:endParaRPr b="0" i="0" sz="940" u="none" cap="none" strike="noStrike">
              <a:solidFill>
                <a:srgbClr val="506471"/>
              </a:solidFill>
              <a:latin typeface="Arial"/>
              <a:ea typeface="Arial"/>
              <a:cs typeface="Arial"/>
              <a:sym typeface="Arial"/>
            </a:endParaRPr>
          </a:p>
        </p:txBody>
      </p:sp>
      <p:sp>
        <p:nvSpPr>
          <p:cNvPr id="384" name="Google Shape;384;p25"/>
          <p:cNvSpPr/>
          <p:nvPr/>
        </p:nvSpPr>
        <p:spPr>
          <a:xfrm>
            <a:off x="552450" y="3143250"/>
            <a:ext cx="2590800" cy="666750"/>
          </a:xfrm>
          <a:prstGeom prst="rect">
            <a:avLst/>
          </a:prstGeom>
          <a:solidFill>
            <a:srgbClr val="EFF3F1"/>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25"/>
          <p:cNvSpPr/>
          <p:nvPr/>
        </p:nvSpPr>
        <p:spPr>
          <a:xfrm>
            <a:off x="685800" y="3257550"/>
            <a:ext cx="2324100" cy="48577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39"/>
              <a:buFont typeface="Arial"/>
              <a:buNone/>
            </a:pPr>
            <a:r>
              <a:rPr b="1" i="0" lang="en-US" sz="940" u="none" cap="none" strike="noStrike">
                <a:solidFill>
                  <a:srgbClr val="102D3A"/>
                </a:solidFill>
                <a:latin typeface="Arial"/>
                <a:ea typeface="Arial"/>
                <a:cs typeface="Arial"/>
                <a:sym typeface="Arial"/>
              </a:rPr>
              <a:t>Station disruption plans</a:t>
            </a:r>
            <a:endParaRPr b="1" i="0" sz="940" u="none" cap="none" strike="noStrike">
              <a:solidFill>
                <a:srgbClr val="102D3A"/>
              </a:solidFill>
              <a:latin typeface="Arial"/>
              <a:ea typeface="Arial"/>
              <a:cs typeface="Arial"/>
              <a:sym typeface="Arial"/>
            </a:endParaRPr>
          </a:p>
        </p:txBody>
      </p:sp>
      <p:sp>
        <p:nvSpPr>
          <p:cNvPr id="386" name="Google Shape;386;p25"/>
          <p:cNvSpPr/>
          <p:nvPr/>
        </p:nvSpPr>
        <p:spPr>
          <a:xfrm>
            <a:off x="3143250" y="3143250"/>
            <a:ext cx="3581400" cy="666750"/>
          </a:xfrm>
          <a:prstGeom prst="rect">
            <a:avLst/>
          </a:prstGeom>
          <a:solidFill>
            <a:srgbClr val="EFF3F1"/>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25"/>
          <p:cNvSpPr/>
          <p:nvPr/>
        </p:nvSpPr>
        <p:spPr>
          <a:xfrm>
            <a:off x="3276600" y="3257550"/>
            <a:ext cx="3314700" cy="48577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39"/>
              <a:buFont typeface="Arial"/>
              <a:buNone/>
            </a:pPr>
            <a:r>
              <a:rPr b="0" i="0" lang="en-US" sz="940" u="none" cap="none" strike="noStrike">
                <a:solidFill>
                  <a:srgbClr val="506471"/>
                </a:solidFill>
                <a:latin typeface="Arial"/>
                <a:ea typeface="Arial"/>
                <a:cs typeface="Arial"/>
                <a:sym typeface="Arial"/>
              </a:rPr>
              <a:t>Local communications, Control contact and station operation tips</a:t>
            </a:r>
            <a:endParaRPr b="0" i="0" sz="940" u="none" cap="none" strike="noStrike">
              <a:solidFill>
                <a:srgbClr val="506471"/>
              </a:solidFill>
              <a:latin typeface="Arial"/>
              <a:ea typeface="Arial"/>
              <a:cs typeface="Arial"/>
              <a:sym typeface="Arial"/>
            </a:endParaRPr>
          </a:p>
        </p:txBody>
      </p:sp>
      <p:sp>
        <p:nvSpPr>
          <p:cNvPr id="388" name="Google Shape;388;p25"/>
          <p:cNvSpPr/>
          <p:nvPr/>
        </p:nvSpPr>
        <p:spPr>
          <a:xfrm>
            <a:off x="6724650" y="3143250"/>
            <a:ext cx="4667250" cy="666750"/>
          </a:xfrm>
          <a:prstGeom prst="rect">
            <a:avLst/>
          </a:prstGeom>
          <a:solidFill>
            <a:srgbClr val="EFF3F1"/>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25"/>
          <p:cNvSpPr/>
          <p:nvPr/>
        </p:nvSpPr>
        <p:spPr>
          <a:xfrm>
            <a:off x="6858000" y="3257550"/>
            <a:ext cx="4400550" cy="48577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39"/>
              <a:buFont typeface="Arial"/>
              <a:buNone/>
            </a:pPr>
            <a:r>
              <a:rPr b="0" i="0" lang="en-US" sz="940" u="none" cap="none" strike="noStrike">
                <a:solidFill>
                  <a:srgbClr val="506471"/>
                </a:solidFill>
                <a:latin typeface="Arial"/>
                <a:ea typeface="Arial"/>
                <a:cs typeface="Arial"/>
                <a:sym typeface="Arial"/>
              </a:rPr>
              <a:t>Station-specific answers are returned for staff or passenger need.</a:t>
            </a:r>
            <a:endParaRPr b="0" i="0" sz="940" u="none" cap="none" strike="noStrike">
              <a:solidFill>
                <a:srgbClr val="506471"/>
              </a:solidFill>
              <a:latin typeface="Arial"/>
              <a:ea typeface="Arial"/>
              <a:cs typeface="Arial"/>
              <a:sym typeface="Arial"/>
            </a:endParaRPr>
          </a:p>
        </p:txBody>
      </p:sp>
      <p:sp>
        <p:nvSpPr>
          <p:cNvPr id="390" name="Google Shape;390;p25"/>
          <p:cNvSpPr/>
          <p:nvPr/>
        </p:nvSpPr>
        <p:spPr>
          <a:xfrm>
            <a:off x="552450" y="3810000"/>
            <a:ext cx="2590800" cy="666750"/>
          </a:xfrm>
          <a:prstGeom prst="rect">
            <a:avLst/>
          </a:prstGeom>
          <a:solidFill>
            <a:srgbClr val="FFFFFF"/>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25"/>
          <p:cNvSpPr/>
          <p:nvPr/>
        </p:nvSpPr>
        <p:spPr>
          <a:xfrm>
            <a:off x="685800" y="3924300"/>
            <a:ext cx="2324100" cy="48577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39"/>
              <a:buFont typeface="Arial"/>
              <a:buNone/>
            </a:pPr>
            <a:r>
              <a:rPr b="1" i="0" lang="en-US" sz="940" u="none" cap="none" strike="noStrike">
                <a:solidFill>
                  <a:srgbClr val="102D3A"/>
                </a:solidFill>
                <a:latin typeface="Arial"/>
                <a:ea typeface="Arial"/>
                <a:cs typeface="Arial"/>
                <a:sym typeface="Arial"/>
              </a:rPr>
              <a:t>Extracted rule chunks</a:t>
            </a:r>
            <a:endParaRPr b="1" i="0" sz="940" u="none" cap="none" strike="noStrike">
              <a:solidFill>
                <a:srgbClr val="102D3A"/>
              </a:solidFill>
              <a:latin typeface="Arial"/>
              <a:ea typeface="Arial"/>
              <a:cs typeface="Arial"/>
              <a:sym typeface="Arial"/>
            </a:endParaRPr>
          </a:p>
        </p:txBody>
      </p:sp>
      <p:sp>
        <p:nvSpPr>
          <p:cNvPr id="392" name="Google Shape;392;p25"/>
          <p:cNvSpPr/>
          <p:nvPr/>
        </p:nvSpPr>
        <p:spPr>
          <a:xfrm>
            <a:off x="3143250" y="3810000"/>
            <a:ext cx="3581400" cy="666750"/>
          </a:xfrm>
          <a:prstGeom prst="rect">
            <a:avLst/>
          </a:prstGeom>
          <a:solidFill>
            <a:srgbClr val="FFFFFF"/>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25"/>
          <p:cNvSpPr/>
          <p:nvPr/>
        </p:nvSpPr>
        <p:spPr>
          <a:xfrm>
            <a:off x="3276600" y="3924300"/>
            <a:ext cx="3314700" cy="48577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39"/>
              <a:buFont typeface="Arial"/>
              <a:buNone/>
            </a:pPr>
            <a:r>
              <a:rPr b="0" i="0" lang="en-US" sz="940" u="none" cap="none" strike="noStrike">
                <a:solidFill>
                  <a:srgbClr val="506471"/>
                </a:solidFill>
                <a:latin typeface="Arial"/>
                <a:ea typeface="Arial"/>
                <a:cs typeface="Arial"/>
                <a:sym typeface="Arial"/>
              </a:rPr>
              <a:t>Searchable textual knowledge prepared during ingestion</a:t>
            </a:r>
            <a:endParaRPr b="0" i="0" sz="940" u="none" cap="none" strike="noStrike">
              <a:solidFill>
                <a:srgbClr val="506471"/>
              </a:solidFill>
              <a:latin typeface="Arial"/>
              <a:ea typeface="Arial"/>
              <a:cs typeface="Arial"/>
              <a:sym typeface="Arial"/>
            </a:endParaRPr>
          </a:p>
        </p:txBody>
      </p:sp>
      <p:sp>
        <p:nvSpPr>
          <p:cNvPr id="394" name="Google Shape;394;p25"/>
          <p:cNvSpPr/>
          <p:nvPr/>
        </p:nvSpPr>
        <p:spPr>
          <a:xfrm>
            <a:off x="6724650" y="3810000"/>
            <a:ext cx="4667250" cy="666750"/>
          </a:xfrm>
          <a:prstGeom prst="rect">
            <a:avLst/>
          </a:prstGeom>
          <a:solidFill>
            <a:srgbClr val="FFFFFF"/>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25"/>
          <p:cNvSpPr/>
          <p:nvPr/>
        </p:nvSpPr>
        <p:spPr>
          <a:xfrm>
            <a:off x="6858000" y="3924300"/>
            <a:ext cx="4400550" cy="48577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39"/>
              <a:buFont typeface="Arial"/>
              <a:buNone/>
            </a:pPr>
            <a:r>
              <a:rPr b="0" i="0" lang="en-US" sz="940" u="none" cap="none" strike="noStrike">
                <a:solidFill>
                  <a:srgbClr val="506471"/>
                </a:solidFill>
                <a:latin typeface="Arial"/>
                <a:ea typeface="Arial"/>
                <a:cs typeface="Arial"/>
                <a:sym typeface="Arial"/>
              </a:rPr>
              <a:t>ChromaDB can support natural-language retrieval when structured fields are incomplete.</a:t>
            </a:r>
            <a:endParaRPr b="0" i="0" sz="940" u="none" cap="none" strike="noStrike">
              <a:solidFill>
                <a:srgbClr val="506471"/>
              </a:solidFill>
              <a:latin typeface="Arial"/>
              <a:ea typeface="Arial"/>
              <a:cs typeface="Arial"/>
              <a:sym typeface="Arial"/>
            </a:endParaRPr>
          </a:p>
        </p:txBody>
      </p:sp>
      <p:sp>
        <p:nvSpPr>
          <p:cNvPr id="396" name="Google Shape;396;p25"/>
          <p:cNvSpPr/>
          <p:nvPr/>
        </p:nvSpPr>
        <p:spPr>
          <a:xfrm>
            <a:off x="552450" y="4714875"/>
            <a:ext cx="10839450" cy="1076325"/>
          </a:xfrm>
          <a:prstGeom prst="rect">
            <a:avLst/>
          </a:prstGeom>
          <a:solidFill>
            <a:srgbClr val="DDECEC"/>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25"/>
          <p:cNvSpPr/>
          <p:nvPr/>
        </p:nvSpPr>
        <p:spPr>
          <a:xfrm>
            <a:off x="781050" y="4905375"/>
            <a:ext cx="2143125" cy="190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87E83"/>
                </a:solidFill>
                <a:latin typeface="Arial"/>
                <a:ea typeface="Arial"/>
                <a:cs typeface="Arial"/>
                <a:sym typeface="Arial"/>
              </a:rPr>
              <a:t>VERIFIED IMPLEMENTATION SCALE</a:t>
            </a:r>
            <a:endParaRPr b="1" i="0" sz="750" u="none" cap="none" strike="noStrike">
              <a:solidFill>
                <a:srgbClr val="087E83"/>
              </a:solidFill>
              <a:latin typeface="Arial"/>
              <a:ea typeface="Arial"/>
              <a:cs typeface="Arial"/>
              <a:sym typeface="Arial"/>
            </a:endParaRPr>
          </a:p>
        </p:txBody>
      </p:sp>
      <p:sp>
        <p:nvSpPr>
          <p:cNvPr id="398" name="Google Shape;398;p25"/>
          <p:cNvSpPr/>
          <p:nvPr/>
        </p:nvSpPr>
        <p:spPr>
          <a:xfrm>
            <a:off x="3333750" y="4914900"/>
            <a:ext cx="1409700" cy="3810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175"/>
              <a:buFont typeface="Arial"/>
              <a:buNone/>
            </a:pPr>
            <a:r>
              <a:rPr b="1" i="0" lang="en-US" sz="2175" u="none" cap="none" strike="noStrike">
                <a:solidFill>
                  <a:srgbClr val="087E83"/>
                </a:solidFill>
                <a:latin typeface="Play"/>
                <a:ea typeface="Play"/>
                <a:cs typeface="Play"/>
                <a:sym typeface="Play"/>
              </a:rPr>
              <a:t>72</a:t>
            </a:r>
            <a:endParaRPr b="1" i="0" sz="2175" u="none" cap="none" strike="noStrike">
              <a:solidFill>
                <a:srgbClr val="087E83"/>
              </a:solidFill>
              <a:latin typeface="Play"/>
              <a:ea typeface="Play"/>
              <a:cs typeface="Play"/>
              <a:sym typeface="Play"/>
            </a:endParaRPr>
          </a:p>
        </p:txBody>
      </p:sp>
      <p:sp>
        <p:nvSpPr>
          <p:cNvPr id="399" name="Google Shape;399;p25"/>
          <p:cNvSpPr/>
          <p:nvPr/>
        </p:nvSpPr>
        <p:spPr>
          <a:xfrm>
            <a:off x="3333750" y="5314950"/>
            <a:ext cx="1409700" cy="3619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25"/>
              <a:buFont typeface="Arial"/>
              <a:buNone/>
            </a:pPr>
            <a:r>
              <a:rPr b="1" i="0" lang="en-US" sz="825" u="none" cap="none" strike="noStrike">
                <a:solidFill>
                  <a:srgbClr val="506471"/>
                </a:solidFill>
                <a:latin typeface="Arial"/>
                <a:ea typeface="Arial"/>
                <a:cs typeface="Arial"/>
                <a:sym typeface="Arial"/>
              </a:rPr>
              <a:t>line contingency plans</a:t>
            </a:r>
            <a:endParaRPr b="1" i="0" sz="825" u="none" cap="none" strike="noStrike">
              <a:solidFill>
                <a:srgbClr val="506471"/>
              </a:solidFill>
              <a:latin typeface="Arial"/>
              <a:ea typeface="Arial"/>
              <a:cs typeface="Arial"/>
              <a:sym typeface="Arial"/>
            </a:endParaRPr>
          </a:p>
        </p:txBody>
      </p:sp>
      <p:sp>
        <p:nvSpPr>
          <p:cNvPr id="400" name="Google Shape;400;p25"/>
          <p:cNvSpPr/>
          <p:nvPr/>
        </p:nvSpPr>
        <p:spPr>
          <a:xfrm>
            <a:off x="4953000" y="4914900"/>
            <a:ext cx="1581300" cy="3810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175"/>
              <a:buFont typeface="Arial"/>
              <a:buNone/>
            </a:pPr>
            <a:r>
              <a:rPr b="1" i="0" lang="en-US" sz="2175" u="none" cap="none" strike="noStrike">
                <a:solidFill>
                  <a:srgbClr val="087E83"/>
                </a:solidFill>
                <a:latin typeface="Play"/>
                <a:ea typeface="Play"/>
                <a:cs typeface="Play"/>
                <a:sym typeface="Play"/>
              </a:rPr>
              <a:t>19</a:t>
            </a:r>
            <a:r>
              <a:rPr b="1" lang="en-US" sz="2175">
                <a:solidFill>
                  <a:srgbClr val="087E83"/>
                </a:solidFill>
                <a:latin typeface="Play"/>
                <a:ea typeface="Play"/>
                <a:cs typeface="Play"/>
                <a:sym typeface="Play"/>
              </a:rPr>
              <a:t>5</a:t>
            </a:r>
            <a:endParaRPr b="1" i="0" sz="2175" u="none" cap="none" strike="noStrike">
              <a:solidFill>
                <a:srgbClr val="087E83"/>
              </a:solidFill>
              <a:latin typeface="Play"/>
              <a:ea typeface="Play"/>
              <a:cs typeface="Play"/>
              <a:sym typeface="Play"/>
            </a:endParaRPr>
          </a:p>
        </p:txBody>
      </p:sp>
      <p:sp>
        <p:nvSpPr>
          <p:cNvPr id="401" name="Google Shape;401;p25"/>
          <p:cNvSpPr/>
          <p:nvPr/>
        </p:nvSpPr>
        <p:spPr>
          <a:xfrm>
            <a:off x="4953000" y="5314950"/>
            <a:ext cx="1581150" cy="3619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25"/>
              <a:buFont typeface="Arial"/>
              <a:buNone/>
            </a:pPr>
            <a:r>
              <a:rPr b="1" i="0" lang="en-US" sz="825" u="none" cap="none" strike="noStrike">
                <a:solidFill>
                  <a:srgbClr val="506471"/>
                </a:solidFill>
                <a:latin typeface="Arial"/>
                <a:ea typeface="Arial"/>
                <a:cs typeface="Arial"/>
                <a:sym typeface="Arial"/>
              </a:rPr>
              <a:t>station disruption plans</a:t>
            </a:r>
            <a:endParaRPr b="1" i="0" sz="825" u="none" cap="none" strike="noStrike">
              <a:solidFill>
                <a:srgbClr val="506471"/>
              </a:solidFill>
              <a:latin typeface="Arial"/>
              <a:ea typeface="Arial"/>
              <a:cs typeface="Arial"/>
              <a:sym typeface="Arial"/>
            </a:endParaRPr>
          </a:p>
        </p:txBody>
      </p:sp>
      <p:sp>
        <p:nvSpPr>
          <p:cNvPr id="402" name="Google Shape;402;p25"/>
          <p:cNvSpPr/>
          <p:nvPr/>
        </p:nvSpPr>
        <p:spPr>
          <a:xfrm>
            <a:off x="6762750" y="4914900"/>
            <a:ext cx="1314450" cy="3810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175"/>
              <a:buFont typeface="Arial"/>
              <a:buNone/>
            </a:pPr>
            <a:r>
              <a:rPr b="1" i="0" lang="en-US" sz="2175" u="none" cap="none" strike="noStrike">
                <a:solidFill>
                  <a:srgbClr val="087E83"/>
                </a:solidFill>
                <a:latin typeface="Play"/>
                <a:ea typeface="Play"/>
                <a:cs typeface="Play"/>
                <a:sym typeface="Play"/>
              </a:rPr>
              <a:t>1,</a:t>
            </a:r>
            <a:r>
              <a:rPr b="1" lang="en-US" sz="2175">
                <a:solidFill>
                  <a:srgbClr val="087E83"/>
                </a:solidFill>
                <a:latin typeface="Play"/>
                <a:ea typeface="Play"/>
                <a:cs typeface="Play"/>
                <a:sym typeface="Play"/>
              </a:rPr>
              <a:t>905</a:t>
            </a:r>
            <a:endParaRPr b="1" i="0" sz="2175" u="none" cap="none" strike="noStrike">
              <a:solidFill>
                <a:srgbClr val="087E83"/>
              </a:solidFill>
              <a:latin typeface="Play"/>
              <a:ea typeface="Play"/>
              <a:cs typeface="Play"/>
              <a:sym typeface="Play"/>
            </a:endParaRPr>
          </a:p>
        </p:txBody>
      </p:sp>
      <p:sp>
        <p:nvSpPr>
          <p:cNvPr id="403" name="Google Shape;403;p25"/>
          <p:cNvSpPr/>
          <p:nvPr/>
        </p:nvSpPr>
        <p:spPr>
          <a:xfrm>
            <a:off x="6762750" y="5314950"/>
            <a:ext cx="1314450" cy="3619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25"/>
              <a:buFont typeface="Arial"/>
              <a:buNone/>
            </a:pPr>
            <a:r>
              <a:rPr b="1" i="0" lang="en-US" sz="825" u="none" cap="none" strike="noStrike">
                <a:solidFill>
                  <a:srgbClr val="506471"/>
                </a:solidFill>
                <a:latin typeface="Arial"/>
                <a:ea typeface="Arial"/>
                <a:cs typeface="Arial"/>
                <a:sym typeface="Arial"/>
              </a:rPr>
              <a:t>station tips</a:t>
            </a:r>
            <a:endParaRPr b="1" i="0" sz="825" u="none" cap="none" strike="noStrike">
              <a:solidFill>
                <a:srgbClr val="506471"/>
              </a:solidFill>
              <a:latin typeface="Arial"/>
              <a:ea typeface="Arial"/>
              <a:cs typeface="Arial"/>
              <a:sym typeface="Arial"/>
            </a:endParaRPr>
          </a:p>
        </p:txBody>
      </p:sp>
      <p:sp>
        <p:nvSpPr>
          <p:cNvPr id="404" name="Google Shape;404;p25"/>
          <p:cNvSpPr/>
          <p:nvPr/>
        </p:nvSpPr>
        <p:spPr>
          <a:xfrm>
            <a:off x="8248650" y="4914900"/>
            <a:ext cx="1362075" cy="3810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175"/>
              <a:buFont typeface="Arial"/>
              <a:buNone/>
            </a:pPr>
            <a:r>
              <a:rPr b="1" lang="en-US" sz="2175">
                <a:solidFill>
                  <a:srgbClr val="087E83"/>
                </a:solidFill>
                <a:latin typeface="Play"/>
                <a:ea typeface="Play"/>
                <a:cs typeface="Play"/>
                <a:sym typeface="Play"/>
              </a:rPr>
              <a:t>2299</a:t>
            </a:r>
            <a:endParaRPr b="1" i="0" sz="2175" u="none" cap="none" strike="noStrike">
              <a:solidFill>
                <a:srgbClr val="087E83"/>
              </a:solidFill>
              <a:latin typeface="Play"/>
              <a:ea typeface="Play"/>
              <a:cs typeface="Play"/>
              <a:sym typeface="Play"/>
            </a:endParaRPr>
          </a:p>
        </p:txBody>
      </p:sp>
      <p:sp>
        <p:nvSpPr>
          <p:cNvPr id="405" name="Google Shape;405;p25"/>
          <p:cNvSpPr/>
          <p:nvPr/>
        </p:nvSpPr>
        <p:spPr>
          <a:xfrm>
            <a:off x="8248650" y="5314950"/>
            <a:ext cx="1362075" cy="3619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25"/>
              <a:buFont typeface="Arial"/>
              <a:buNone/>
            </a:pPr>
            <a:r>
              <a:rPr b="1" i="0" lang="en-US" sz="825" u="none" cap="none" strike="noStrike">
                <a:solidFill>
                  <a:srgbClr val="506471"/>
                </a:solidFill>
                <a:latin typeface="Arial"/>
                <a:ea typeface="Arial"/>
                <a:cs typeface="Arial"/>
                <a:sym typeface="Arial"/>
              </a:rPr>
              <a:t>knowledge files</a:t>
            </a:r>
            <a:endParaRPr b="1" i="0" sz="825" u="none" cap="none" strike="noStrike">
              <a:solidFill>
                <a:srgbClr val="506471"/>
              </a:solidFill>
              <a:latin typeface="Arial"/>
              <a:ea typeface="Arial"/>
              <a:cs typeface="Arial"/>
              <a:sym typeface="Arial"/>
            </a:endParaRPr>
          </a:p>
        </p:txBody>
      </p:sp>
      <p:sp>
        <p:nvSpPr>
          <p:cNvPr id="406" name="Google Shape;406;p25"/>
          <p:cNvSpPr/>
          <p:nvPr/>
        </p:nvSpPr>
        <p:spPr>
          <a:xfrm>
            <a:off x="9858375" y="4914900"/>
            <a:ext cx="1323975" cy="3810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175"/>
              <a:buFont typeface="Arial"/>
              <a:buNone/>
            </a:pPr>
            <a:r>
              <a:rPr b="1" lang="en-US" sz="2175">
                <a:solidFill>
                  <a:srgbClr val="087E83"/>
                </a:solidFill>
                <a:latin typeface="Play"/>
                <a:ea typeface="Play"/>
                <a:cs typeface="Play"/>
                <a:sym typeface="Play"/>
              </a:rPr>
              <a:t>3496</a:t>
            </a:r>
            <a:endParaRPr b="1" i="0" sz="2175" u="none" cap="none" strike="noStrike">
              <a:solidFill>
                <a:srgbClr val="087E83"/>
              </a:solidFill>
              <a:latin typeface="Play"/>
              <a:ea typeface="Play"/>
              <a:cs typeface="Play"/>
              <a:sym typeface="Play"/>
            </a:endParaRPr>
          </a:p>
        </p:txBody>
      </p:sp>
      <p:sp>
        <p:nvSpPr>
          <p:cNvPr id="407" name="Google Shape;407;p25"/>
          <p:cNvSpPr/>
          <p:nvPr/>
        </p:nvSpPr>
        <p:spPr>
          <a:xfrm>
            <a:off x="9858375" y="5314950"/>
            <a:ext cx="1323975" cy="3619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25"/>
              <a:buFont typeface="Arial"/>
              <a:buNone/>
            </a:pPr>
            <a:r>
              <a:rPr b="1" i="0" lang="en-US" sz="825" u="none" cap="none" strike="noStrike">
                <a:solidFill>
                  <a:srgbClr val="506471"/>
                </a:solidFill>
                <a:latin typeface="Arial"/>
                <a:ea typeface="Arial"/>
                <a:cs typeface="Arial"/>
                <a:sym typeface="Arial"/>
              </a:rPr>
              <a:t>ChromaDB chunks</a:t>
            </a:r>
            <a:endParaRPr b="1" i="0" sz="825" u="none" cap="none" strike="noStrike">
              <a:solidFill>
                <a:srgbClr val="50647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26"/>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26"/>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26"/>
          <p:cNvSpPr/>
          <p:nvPr/>
        </p:nvSpPr>
        <p:spPr>
          <a:xfrm>
            <a:off x="552450" y="276225"/>
            <a:ext cx="619125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15"/>
              <a:buFont typeface="Arial"/>
              <a:buNone/>
            </a:pPr>
            <a:r>
              <a:rPr b="1" i="0" lang="en-US" sz="715" u="none" cap="none" strike="noStrike">
                <a:solidFill>
                  <a:srgbClr val="087E83"/>
                </a:solidFill>
                <a:latin typeface="Arial"/>
                <a:ea typeface="Arial"/>
                <a:cs typeface="Arial"/>
                <a:sym typeface="Arial"/>
              </a:rPr>
              <a:t>TASK 3  /  RAILWAY DISRUPTION EXPERT SYSTEM</a:t>
            </a:r>
            <a:endParaRPr b="1" i="0" sz="715" u="none" cap="none" strike="noStrike">
              <a:solidFill>
                <a:srgbClr val="087E83"/>
              </a:solidFill>
              <a:latin typeface="Arial"/>
              <a:ea typeface="Arial"/>
              <a:cs typeface="Arial"/>
              <a:sym typeface="Arial"/>
            </a:endParaRPr>
          </a:p>
        </p:txBody>
      </p:sp>
      <p:sp>
        <p:nvSpPr>
          <p:cNvPr id="416" name="Google Shape;416;p26"/>
          <p:cNvSpPr/>
          <p:nvPr/>
        </p:nvSpPr>
        <p:spPr>
          <a:xfrm>
            <a:off x="8782050" y="276225"/>
            <a:ext cx="285750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5"/>
              <a:buFont typeface="Arial"/>
              <a:buNone/>
            </a:pPr>
            <a:r>
              <a:rPr b="1" i="0" lang="en-US" sz="715" u="none" cap="none" strike="noStrike">
                <a:solidFill>
                  <a:srgbClr val="506471"/>
                </a:solidFill>
                <a:latin typeface="Arial"/>
                <a:ea typeface="Arial"/>
                <a:cs typeface="Arial"/>
                <a:sym typeface="Arial"/>
              </a:rPr>
              <a:t>USER INTERACTION</a:t>
            </a:r>
            <a:endParaRPr b="1" i="0" sz="715" u="none" cap="none" strike="noStrike">
              <a:solidFill>
                <a:srgbClr val="506471"/>
              </a:solidFill>
              <a:latin typeface="Arial"/>
              <a:ea typeface="Arial"/>
              <a:cs typeface="Arial"/>
              <a:sym typeface="Arial"/>
            </a:endParaRPr>
          </a:p>
        </p:txBody>
      </p:sp>
      <p:sp>
        <p:nvSpPr>
          <p:cNvPr id="417" name="Google Shape;417;p26"/>
          <p:cNvSpPr/>
          <p:nvPr/>
        </p:nvSpPr>
        <p:spPr>
          <a:xfrm>
            <a:off x="552450" y="6438900"/>
            <a:ext cx="11087100" cy="9525"/>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26"/>
          <p:cNvSpPr/>
          <p:nvPr/>
        </p:nvSpPr>
        <p:spPr>
          <a:xfrm>
            <a:off x="552450" y="647700"/>
            <a:ext cx="1066800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02D3A"/>
                </a:solidFill>
                <a:latin typeface="Play"/>
                <a:ea typeface="Play"/>
                <a:cs typeface="Play"/>
                <a:sym typeface="Play"/>
              </a:rPr>
              <a:t>What </a:t>
            </a:r>
            <a:r>
              <a:rPr b="1" lang="en-US" sz="2400">
                <a:solidFill>
                  <a:srgbClr val="102D3A"/>
                </a:solidFill>
                <a:latin typeface="Play"/>
                <a:ea typeface="Play"/>
                <a:cs typeface="Play"/>
                <a:sym typeface="Play"/>
              </a:rPr>
              <a:t>expert system</a:t>
            </a:r>
            <a:r>
              <a:rPr b="1" i="0" lang="en-US" sz="2400" u="none" cap="none" strike="noStrike">
                <a:solidFill>
                  <a:srgbClr val="102D3A"/>
                </a:solidFill>
                <a:latin typeface="Play"/>
                <a:ea typeface="Play"/>
                <a:cs typeface="Play"/>
                <a:sym typeface="Play"/>
              </a:rPr>
              <a:t> adds to the chatbot</a:t>
            </a:r>
            <a:endParaRPr b="1" i="0" sz="2400" u="none" cap="none" strike="noStrike">
              <a:solidFill>
                <a:srgbClr val="102D3A"/>
              </a:solidFill>
              <a:latin typeface="Play"/>
              <a:ea typeface="Play"/>
              <a:cs typeface="Play"/>
              <a:sym typeface="Play"/>
            </a:endParaRPr>
          </a:p>
        </p:txBody>
      </p:sp>
      <p:sp>
        <p:nvSpPr>
          <p:cNvPr id="419" name="Google Shape;419;p26"/>
          <p:cNvSpPr/>
          <p:nvPr/>
        </p:nvSpPr>
        <p:spPr>
          <a:xfrm>
            <a:off x="552450" y="1200150"/>
            <a:ext cx="10429875" cy="3619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506471"/>
                </a:solidFill>
                <a:latin typeface="Arial"/>
                <a:ea typeface="Arial"/>
                <a:cs typeface="Arial"/>
                <a:sym typeface="Arial"/>
              </a:rPr>
              <a:t>A guided conversation gathers enough incident detail before the expert system returns advice.</a:t>
            </a:r>
            <a:endParaRPr b="0" i="0" sz="1050" u="none" cap="none" strike="noStrike">
              <a:solidFill>
                <a:srgbClr val="506471"/>
              </a:solidFill>
              <a:latin typeface="Arial"/>
              <a:ea typeface="Arial"/>
              <a:cs typeface="Arial"/>
              <a:sym typeface="Arial"/>
            </a:endParaRPr>
          </a:p>
        </p:txBody>
      </p:sp>
      <p:sp>
        <p:nvSpPr>
          <p:cNvPr id="420" name="Google Shape;420;p26"/>
          <p:cNvSpPr/>
          <p:nvPr/>
        </p:nvSpPr>
        <p:spPr>
          <a:xfrm>
            <a:off x="552450" y="1809750"/>
            <a:ext cx="5219700" cy="3943350"/>
          </a:xfrm>
          <a:prstGeom prst="rect">
            <a:avLst/>
          </a:prstGeom>
          <a:solidFill>
            <a:srgbClr val="FFFFFF"/>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26"/>
          <p:cNvSpPr/>
          <p:nvPr/>
        </p:nvSpPr>
        <p:spPr>
          <a:xfrm>
            <a:off x="838200" y="2076450"/>
            <a:ext cx="4476750" cy="190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87E83"/>
                </a:solidFill>
                <a:latin typeface="Arial"/>
                <a:ea typeface="Arial"/>
                <a:cs typeface="Arial"/>
                <a:sym typeface="Arial"/>
              </a:rPr>
              <a:t>INCIDENT WORKFLOW 1  |  LINE BLOCKAGE</a:t>
            </a:r>
            <a:endParaRPr b="1" i="0" sz="750" u="none" cap="none" strike="noStrike">
              <a:solidFill>
                <a:srgbClr val="087E83"/>
              </a:solidFill>
              <a:latin typeface="Arial"/>
              <a:ea typeface="Arial"/>
              <a:cs typeface="Arial"/>
              <a:sym typeface="Arial"/>
            </a:endParaRPr>
          </a:p>
        </p:txBody>
      </p:sp>
      <p:sp>
        <p:nvSpPr>
          <p:cNvPr id="422" name="Google Shape;422;p26"/>
          <p:cNvSpPr/>
          <p:nvPr/>
        </p:nvSpPr>
        <p:spPr>
          <a:xfrm>
            <a:off x="838200" y="2571750"/>
            <a:ext cx="57150" cy="5715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26"/>
          <p:cNvSpPr/>
          <p:nvPr/>
        </p:nvSpPr>
        <p:spPr>
          <a:xfrm>
            <a:off x="1009650" y="2495550"/>
            <a:ext cx="4362450" cy="590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D3A"/>
                </a:solidFill>
                <a:latin typeface="Arial"/>
                <a:ea typeface="Arial"/>
                <a:cs typeface="Arial"/>
                <a:sym typeface="Arial"/>
              </a:rPr>
              <a:t>The assistant asks which two stations or locations define the affected line section.</a:t>
            </a:r>
            <a:endParaRPr b="0" i="0" sz="1125" u="none" cap="none" strike="noStrike">
              <a:solidFill>
                <a:srgbClr val="102D3A"/>
              </a:solidFill>
              <a:latin typeface="Arial"/>
              <a:ea typeface="Arial"/>
              <a:cs typeface="Arial"/>
              <a:sym typeface="Arial"/>
            </a:endParaRPr>
          </a:p>
        </p:txBody>
      </p:sp>
      <p:sp>
        <p:nvSpPr>
          <p:cNvPr id="424" name="Google Shape;424;p26"/>
          <p:cNvSpPr/>
          <p:nvPr/>
        </p:nvSpPr>
        <p:spPr>
          <a:xfrm>
            <a:off x="838200" y="3352800"/>
            <a:ext cx="57150" cy="5715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26"/>
          <p:cNvSpPr/>
          <p:nvPr/>
        </p:nvSpPr>
        <p:spPr>
          <a:xfrm>
            <a:off x="1009650" y="3276600"/>
            <a:ext cx="4362450" cy="61912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D3A"/>
                </a:solidFill>
                <a:latin typeface="Arial"/>
                <a:ea typeface="Arial"/>
                <a:cs typeface="Arial"/>
                <a:sym typeface="Arial"/>
              </a:rPr>
              <a:t>It requests confirmation of the location, then asks whether the blockage is partial or full.</a:t>
            </a:r>
            <a:endParaRPr b="0" i="0" sz="1125" u="none" cap="none" strike="noStrike">
              <a:solidFill>
                <a:srgbClr val="102D3A"/>
              </a:solidFill>
              <a:latin typeface="Arial"/>
              <a:ea typeface="Arial"/>
              <a:cs typeface="Arial"/>
              <a:sym typeface="Arial"/>
            </a:endParaRPr>
          </a:p>
        </p:txBody>
      </p:sp>
      <p:sp>
        <p:nvSpPr>
          <p:cNvPr id="426" name="Google Shape;426;p26"/>
          <p:cNvSpPr/>
          <p:nvPr/>
        </p:nvSpPr>
        <p:spPr>
          <a:xfrm>
            <a:off x="838200" y="4181475"/>
            <a:ext cx="57150" cy="5715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26"/>
          <p:cNvSpPr/>
          <p:nvPr/>
        </p:nvSpPr>
        <p:spPr>
          <a:xfrm>
            <a:off x="1009650" y="4105275"/>
            <a:ext cx="4362450" cy="61912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D3A"/>
                </a:solidFill>
                <a:latin typeface="Arial"/>
                <a:ea typeface="Arial"/>
                <a:cs typeface="Arial"/>
                <a:sym typeface="Arial"/>
              </a:rPr>
              <a:t>Once the blockage condition is confirmed, it asks which type of operational advice is needed.</a:t>
            </a:r>
            <a:endParaRPr b="0" i="0" sz="1125" u="none" cap="none" strike="noStrike">
              <a:solidFill>
                <a:srgbClr val="102D3A"/>
              </a:solidFill>
              <a:latin typeface="Arial"/>
              <a:ea typeface="Arial"/>
              <a:cs typeface="Arial"/>
              <a:sym typeface="Arial"/>
            </a:endParaRPr>
          </a:p>
        </p:txBody>
      </p:sp>
      <p:sp>
        <p:nvSpPr>
          <p:cNvPr id="428" name="Google Shape;428;p26"/>
          <p:cNvSpPr/>
          <p:nvPr/>
        </p:nvSpPr>
        <p:spPr>
          <a:xfrm>
            <a:off x="838200" y="5086350"/>
            <a:ext cx="4457700" cy="3238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14"/>
              <a:buFont typeface="Arial"/>
              <a:buNone/>
            </a:pPr>
            <a:r>
              <a:rPr b="1" i="0" lang="en-US" sz="1015" u="none" cap="none" strike="noStrike">
                <a:solidFill>
                  <a:srgbClr val="087E83"/>
                </a:solidFill>
                <a:latin typeface="Arial"/>
                <a:ea typeface="Arial"/>
                <a:cs typeface="Arial"/>
                <a:sym typeface="Arial"/>
              </a:rPr>
              <a:t>Example: both lines blocked between Woking and Guildford.</a:t>
            </a:r>
            <a:endParaRPr b="1" i="0" sz="1015" u="none" cap="none" strike="noStrike">
              <a:solidFill>
                <a:srgbClr val="087E83"/>
              </a:solidFill>
              <a:latin typeface="Arial"/>
              <a:ea typeface="Arial"/>
              <a:cs typeface="Arial"/>
              <a:sym typeface="Arial"/>
            </a:endParaRPr>
          </a:p>
        </p:txBody>
      </p:sp>
      <p:sp>
        <p:nvSpPr>
          <p:cNvPr id="429" name="Google Shape;429;p26"/>
          <p:cNvSpPr/>
          <p:nvPr/>
        </p:nvSpPr>
        <p:spPr>
          <a:xfrm>
            <a:off x="6038850" y="1809750"/>
            <a:ext cx="5353050" cy="3943350"/>
          </a:xfrm>
          <a:prstGeom prst="rect">
            <a:avLst/>
          </a:prstGeom>
          <a:solidFill>
            <a:srgbClr val="FFFFFF"/>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26"/>
          <p:cNvSpPr/>
          <p:nvPr/>
        </p:nvSpPr>
        <p:spPr>
          <a:xfrm>
            <a:off x="6324600" y="2076450"/>
            <a:ext cx="4762500" cy="190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87E83"/>
                </a:solidFill>
                <a:latin typeface="Arial"/>
                <a:ea typeface="Arial"/>
                <a:cs typeface="Arial"/>
                <a:sym typeface="Arial"/>
              </a:rPr>
              <a:t>INCIDENT WORKFLOW 2  |  STATION DISRUPTION</a:t>
            </a:r>
            <a:endParaRPr b="1" i="0" sz="750" u="none" cap="none" strike="noStrike">
              <a:solidFill>
                <a:srgbClr val="087E83"/>
              </a:solidFill>
              <a:latin typeface="Arial"/>
              <a:ea typeface="Arial"/>
              <a:cs typeface="Arial"/>
              <a:sym typeface="Arial"/>
            </a:endParaRPr>
          </a:p>
        </p:txBody>
      </p:sp>
      <p:sp>
        <p:nvSpPr>
          <p:cNvPr id="431" name="Google Shape;431;p26"/>
          <p:cNvSpPr/>
          <p:nvPr/>
        </p:nvSpPr>
        <p:spPr>
          <a:xfrm>
            <a:off x="6324600" y="2571750"/>
            <a:ext cx="57150" cy="5715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26"/>
          <p:cNvSpPr/>
          <p:nvPr/>
        </p:nvSpPr>
        <p:spPr>
          <a:xfrm>
            <a:off x="6496050" y="2495550"/>
            <a:ext cx="4476750" cy="6286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D3A"/>
                </a:solidFill>
                <a:latin typeface="Arial"/>
                <a:ea typeface="Arial"/>
                <a:cs typeface="Arial"/>
                <a:sym typeface="Arial"/>
              </a:rPr>
              <a:t>The assistant asks which station is affected, then confirms that station before searching for advice.</a:t>
            </a:r>
            <a:endParaRPr b="0" i="0" sz="1125" u="none" cap="none" strike="noStrike">
              <a:solidFill>
                <a:srgbClr val="102D3A"/>
              </a:solidFill>
              <a:latin typeface="Arial"/>
              <a:ea typeface="Arial"/>
              <a:cs typeface="Arial"/>
              <a:sym typeface="Arial"/>
            </a:endParaRPr>
          </a:p>
        </p:txBody>
      </p:sp>
      <p:sp>
        <p:nvSpPr>
          <p:cNvPr id="433" name="Google Shape;433;p26"/>
          <p:cNvSpPr/>
          <p:nvPr/>
        </p:nvSpPr>
        <p:spPr>
          <a:xfrm>
            <a:off x="6324600" y="3390900"/>
            <a:ext cx="57150" cy="5715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26"/>
          <p:cNvSpPr/>
          <p:nvPr/>
        </p:nvSpPr>
        <p:spPr>
          <a:xfrm>
            <a:off x="6496050" y="3314700"/>
            <a:ext cx="4476750" cy="86677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D3A"/>
                </a:solidFill>
                <a:latin typeface="Arial"/>
                <a:ea typeface="Arial"/>
                <a:cs typeface="Arial"/>
                <a:sym typeface="Arial"/>
              </a:rPr>
              <a:t>Users can request station staff advice, signaller information, passenger information, service alterations, alternative journeys or all guidance.</a:t>
            </a:r>
            <a:endParaRPr b="0" i="0" sz="1125" u="none" cap="none" strike="noStrike">
              <a:solidFill>
                <a:srgbClr val="102D3A"/>
              </a:solidFill>
              <a:latin typeface="Arial"/>
              <a:ea typeface="Arial"/>
              <a:cs typeface="Arial"/>
              <a:sym typeface="Arial"/>
            </a:endParaRPr>
          </a:p>
        </p:txBody>
      </p:sp>
      <p:sp>
        <p:nvSpPr>
          <p:cNvPr id="435" name="Google Shape;435;p26"/>
          <p:cNvSpPr/>
          <p:nvPr/>
        </p:nvSpPr>
        <p:spPr>
          <a:xfrm>
            <a:off x="6324600" y="4486275"/>
            <a:ext cx="57150" cy="5715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26"/>
          <p:cNvSpPr/>
          <p:nvPr/>
        </p:nvSpPr>
        <p:spPr>
          <a:xfrm>
            <a:off x="6496050" y="4410075"/>
            <a:ext cx="4476750" cy="6477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D3A"/>
                </a:solidFill>
                <a:latin typeface="Arial"/>
                <a:ea typeface="Arial"/>
                <a:cs typeface="Arial"/>
                <a:sym typeface="Arial"/>
              </a:rPr>
              <a:t>The final response is audience-focused, so users are not forced to read all stored material for every incident.</a:t>
            </a:r>
            <a:endParaRPr b="0" i="0" sz="1125" u="none" cap="none" strike="noStrike">
              <a:solidFill>
                <a:srgbClr val="102D3A"/>
              </a:solidFill>
              <a:latin typeface="Arial"/>
              <a:ea typeface="Arial"/>
              <a:cs typeface="Arial"/>
              <a:sym typeface="Arial"/>
            </a:endParaRPr>
          </a:p>
        </p:txBody>
      </p:sp>
      <p:sp>
        <p:nvSpPr>
          <p:cNvPr id="437" name="Google Shape;437;p26"/>
          <p:cNvSpPr/>
          <p:nvPr/>
        </p:nvSpPr>
        <p:spPr>
          <a:xfrm>
            <a:off x="6324600" y="5219700"/>
            <a:ext cx="4648200" cy="3238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14"/>
              <a:buFont typeface="Arial"/>
              <a:buNone/>
            </a:pPr>
            <a:r>
              <a:rPr b="1" i="0" lang="en-US" sz="1015" u="none" cap="none" strike="noStrike">
                <a:solidFill>
                  <a:srgbClr val="087E83"/>
                </a:solidFill>
                <a:latin typeface="Arial"/>
                <a:ea typeface="Arial"/>
                <a:cs typeface="Arial"/>
                <a:sym typeface="Arial"/>
              </a:rPr>
              <a:t>Example: station staff advice for disruption at Bournemouth.</a:t>
            </a:r>
            <a:endParaRPr b="1" i="0" sz="1015" u="none" cap="none" strike="noStrike">
              <a:solidFill>
                <a:srgbClr val="087E83"/>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27"/>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27"/>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27"/>
          <p:cNvSpPr/>
          <p:nvPr/>
        </p:nvSpPr>
        <p:spPr>
          <a:xfrm>
            <a:off x="552450" y="276225"/>
            <a:ext cx="619125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15"/>
              <a:buFont typeface="Arial"/>
              <a:buNone/>
            </a:pPr>
            <a:r>
              <a:rPr b="1" i="0" lang="en-US" sz="715" u="none" cap="none" strike="noStrike">
                <a:solidFill>
                  <a:srgbClr val="087E83"/>
                </a:solidFill>
                <a:latin typeface="Arial"/>
                <a:ea typeface="Arial"/>
                <a:cs typeface="Arial"/>
                <a:sym typeface="Arial"/>
              </a:rPr>
              <a:t>TASK 3  /  RAILWAY DISRUPTION EXPERT SYSTEM</a:t>
            </a:r>
            <a:endParaRPr b="1" i="0" sz="715" u="none" cap="none" strike="noStrike">
              <a:solidFill>
                <a:srgbClr val="087E83"/>
              </a:solidFill>
              <a:latin typeface="Arial"/>
              <a:ea typeface="Arial"/>
              <a:cs typeface="Arial"/>
              <a:sym typeface="Arial"/>
            </a:endParaRPr>
          </a:p>
        </p:txBody>
      </p:sp>
      <p:sp>
        <p:nvSpPr>
          <p:cNvPr id="446" name="Google Shape;446;p27"/>
          <p:cNvSpPr/>
          <p:nvPr/>
        </p:nvSpPr>
        <p:spPr>
          <a:xfrm>
            <a:off x="8782050" y="276225"/>
            <a:ext cx="285750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5"/>
              <a:buFont typeface="Arial"/>
              <a:buNone/>
            </a:pPr>
            <a:r>
              <a:rPr b="1" i="0" lang="en-US" sz="715" u="none" cap="none" strike="noStrike">
                <a:solidFill>
                  <a:srgbClr val="506471"/>
                </a:solidFill>
                <a:latin typeface="Arial"/>
                <a:ea typeface="Arial"/>
                <a:cs typeface="Arial"/>
                <a:sym typeface="Arial"/>
              </a:rPr>
              <a:t>IMPLEMENTED WORKFLOW</a:t>
            </a:r>
            <a:endParaRPr b="1" i="0" sz="715" u="none" cap="none" strike="noStrike">
              <a:solidFill>
                <a:srgbClr val="506471"/>
              </a:solidFill>
              <a:latin typeface="Arial"/>
              <a:ea typeface="Arial"/>
              <a:cs typeface="Arial"/>
              <a:sym typeface="Arial"/>
            </a:endParaRPr>
          </a:p>
        </p:txBody>
      </p:sp>
      <p:sp>
        <p:nvSpPr>
          <p:cNvPr id="447" name="Google Shape;447;p27"/>
          <p:cNvSpPr/>
          <p:nvPr/>
        </p:nvSpPr>
        <p:spPr>
          <a:xfrm>
            <a:off x="552450" y="6438900"/>
            <a:ext cx="11087100" cy="9525"/>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27"/>
          <p:cNvSpPr/>
          <p:nvPr/>
        </p:nvSpPr>
        <p:spPr>
          <a:xfrm>
            <a:off x="552450" y="647700"/>
            <a:ext cx="1066800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02D3A"/>
                </a:solidFill>
                <a:latin typeface="Play"/>
                <a:ea typeface="Play"/>
                <a:cs typeface="Play"/>
                <a:sym typeface="Play"/>
              </a:rPr>
              <a:t>How the expert system works</a:t>
            </a:r>
            <a:endParaRPr b="1" i="0" sz="2400" u="none" cap="none" strike="noStrike">
              <a:solidFill>
                <a:srgbClr val="102D3A"/>
              </a:solidFill>
              <a:latin typeface="Play"/>
              <a:ea typeface="Play"/>
              <a:cs typeface="Play"/>
              <a:sym typeface="Play"/>
            </a:endParaRPr>
          </a:p>
        </p:txBody>
      </p:sp>
      <p:sp>
        <p:nvSpPr>
          <p:cNvPr id="449" name="Google Shape;449;p27"/>
          <p:cNvSpPr/>
          <p:nvPr/>
        </p:nvSpPr>
        <p:spPr>
          <a:xfrm>
            <a:off x="552450" y="1762125"/>
            <a:ext cx="3810000" cy="190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87E83"/>
                </a:solidFill>
                <a:latin typeface="Arial"/>
                <a:ea typeface="Arial"/>
                <a:cs typeface="Arial"/>
                <a:sym typeface="Arial"/>
              </a:rPr>
              <a:t>IMPLEMENTED TECHNICAL FLOW</a:t>
            </a:r>
            <a:endParaRPr b="1" i="0" sz="750" u="none" cap="none" strike="noStrike">
              <a:solidFill>
                <a:srgbClr val="087E83"/>
              </a:solidFill>
              <a:latin typeface="Arial"/>
              <a:ea typeface="Arial"/>
              <a:cs typeface="Arial"/>
              <a:sym typeface="Arial"/>
            </a:endParaRPr>
          </a:p>
        </p:txBody>
      </p:sp>
      <p:sp>
        <p:nvSpPr>
          <p:cNvPr id="450" name="Google Shape;450;p27"/>
          <p:cNvSpPr/>
          <p:nvPr/>
        </p:nvSpPr>
        <p:spPr>
          <a:xfrm>
            <a:off x="552450" y="2428875"/>
            <a:ext cx="1314450" cy="666750"/>
          </a:xfrm>
          <a:prstGeom prst="rect">
            <a:avLst/>
          </a:prstGeom>
          <a:solidFill>
            <a:srgbClr val="DDECEC"/>
          </a:solidFill>
          <a:ln cap="flat" cmpd="sng" w="9525">
            <a:solidFill>
              <a:srgbClr val="087E8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27"/>
          <p:cNvSpPr/>
          <p:nvPr/>
        </p:nvSpPr>
        <p:spPr>
          <a:xfrm>
            <a:off x="647700" y="2619375"/>
            <a:ext cx="1123950" cy="3238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102D3A"/>
                </a:solidFill>
                <a:latin typeface="Arial"/>
                <a:ea typeface="Arial"/>
                <a:cs typeface="Arial"/>
                <a:sym typeface="Arial"/>
              </a:rPr>
              <a:t>User</a:t>
            </a:r>
            <a:endParaRPr b="1" i="0" sz="1050" u="none" cap="none" strike="noStrike">
              <a:solidFill>
                <a:srgbClr val="102D3A"/>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102D3A"/>
                </a:solidFill>
                <a:latin typeface="Arial"/>
                <a:ea typeface="Arial"/>
                <a:cs typeface="Arial"/>
                <a:sym typeface="Arial"/>
              </a:rPr>
              <a:t>request</a:t>
            </a:r>
            <a:endParaRPr b="1" i="0" sz="1050" u="none" cap="none" strike="noStrike">
              <a:solidFill>
                <a:srgbClr val="102D3A"/>
              </a:solidFill>
              <a:latin typeface="Arial"/>
              <a:ea typeface="Arial"/>
              <a:cs typeface="Arial"/>
              <a:sym typeface="Arial"/>
            </a:endParaRPr>
          </a:p>
        </p:txBody>
      </p:sp>
      <p:sp>
        <p:nvSpPr>
          <p:cNvPr id="452" name="Google Shape;452;p27"/>
          <p:cNvSpPr/>
          <p:nvPr/>
        </p:nvSpPr>
        <p:spPr>
          <a:xfrm>
            <a:off x="1933575" y="2762250"/>
            <a:ext cx="171450" cy="1905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27"/>
          <p:cNvSpPr/>
          <p:nvPr/>
        </p:nvSpPr>
        <p:spPr>
          <a:xfrm>
            <a:off x="2085975" y="2714625"/>
            <a:ext cx="114300" cy="114300"/>
          </a:xfrm>
          <a:prstGeom prst="triangle">
            <a:avLst>
              <a:gd fmla="val 50000" name="adj"/>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27"/>
          <p:cNvSpPr/>
          <p:nvPr/>
        </p:nvSpPr>
        <p:spPr>
          <a:xfrm>
            <a:off x="2257425" y="2428875"/>
            <a:ext cx="1352550" cy="666750"/>
          </a:xfrm>
          <a:prstGeom prst="rect">
            <a:avLst/>
          </a:prstGeom>
          <a:solidFill>
            <a:srgbClr val="FFFFFF"/>
          </a:solidFill>
          <a:ln cap="flat" cmpd="sng" w="9525">
            <a:solidFill>
              <a:srgbClr val="087E8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27"/>
          <p:cNvSpPr/>
          <p:nvPr/>
        </p:nvSpPr>
        <p:spPr>
          <a:xfrm>
            <a:off x="2352675" y="2619375"/>
            <a:ext cx="1162050" cy="3238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102D3A"/>
                </a:solidFill>
                <a:latin typeface="Arial"/>
                <a:ea typeface="Arial"/>
                <a:cs typeface="Arial"/>
                <a:sym typeface="Arial"/>
              </a:rPr>
              <a:t>Browser</a:t>
            </a:r>
            <a:endParaRPr b="1" i="0" sz="1050" u="none" cap="none" strike="noStrike">
              <a:solidFill>
                <a:srgbClr val="102D3A"/>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102D3A"/>
                </a:solidFill>
                <a:latin typeface="Arial"/>
                <a:ea typeface="Arial"/>
                <a:cs typeface="Arial"/>
                <a:sym typeface="Arial"/>
              </a:rPr>
              <a:t>chat UI</a:t>
            </a:r>
            <a:endParaRPr b="1" i="0" sz="1050" u="none" cap="none" strike="noStrike">
              <a:solidFill>
                <a:srgbClr val="102D3A"/>
              </a:solidFill>
              <a:latin typeface="Arial"/>
              <a:ea typeface="Arial"/>
              <a:cs typeface="Arial"/>
              <a:sym typeface="Arial"/>
            </a:endParaRPr>
          </a:p>
        </p:txBody>
      </p:sp>
      <p:sp>
        <p:nvSpPr>
          <p:cNvPr id="456" name="Google Shape;456;p27"/>
          <p:cNvSpPr/>
          <p:nvPr/>
        </p:nvSpPr>
        <p:spPr>
          <a:xfrm>
            <a:off x="3676650" y="2762250"/>
            <a:ext cx="171450" cy="1905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27"/>
          <p:cNvSpPr/>
          <p:nvPr/>
        </p:nvSpPr>
        <p:spPr>
          <a:xfrm>
            <a:off x="3829050" y="2714625"/>
            <a:ext cx="114300" cy="114300"/>
          </a:xfrm>
          <a:prstGeom prst="triangle">
            <a:avLst>
              <a:gd fmla="val 50000" name="adj"/>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27"/>
          <p:cNvSpPr/>
          <p:nvPr/>
        </p:nvSpPr>
        <p:spPr>
          <a:xfrm>
            <a:off x="4000500" y="2428875"/>
            <a:ext cx="1409700" cy="666750"/>
          </a:xfrm>
          <a:prstGeom prst="rect">
            <a:avLst/>
          </a:prstGeom>
          <a:solidFill>
            <a:srgbClr val="FFFFFF"/>
          </a:solidFill>
          <a:ln cap="flat" cmpd="sng" w="9525">
            <a:solidFill>
              <a:srgbClr val="087E8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27"/>
          <p:cNvSpPr/>
          <p:nvPr/>
        </p:nvSpPr>
        <p:spPr>
          <a:xfrm>
            <a:off x="4095750" y="2619375"/>
            <a:ext cx="1219200" cy="3238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102D3A"/>
                </a:solidFill>
                <a:latin typeface="Arial"/>
                <a:ea typeface="Arial"/>
                <a:cs typeface="Arial"/>
                <a:sym typeface="Arial"/>
              </a:rPr>
              <a:t>FastAPI</a:t>
            </a:r>
            <a:endParaRPr b="1" i="0" sz="1050" u="none" cap="none" strike="noStrike">
              <a:solidFill>
                <a:srgbClr val="102D3A"/>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102D3A"/>
                </a:solidFill>
                <a:latin typeface="Arial"/>
                <a:ea typeface="Arial"/>
                <a:cs typeface="Arial"/>
                <a:sym typeface="Arial"/>
              </a:rPr>
              <a:t>/api/chat</a:t>
            </a:r>
            <a:endParaRPr b="1" i="0" sz="1050" u="none" cap="none" strike="noStrike">
              <a:solidFill>
                <a:srgbClr val="102D3A"/>
              </a:solidFill>
              <a:latin typeface="Arial"/>
              <a:ea typeface="Arial"/>
              <a:cs typeface="Arial"/>
              <a:sym typeface="Arial"/>
            </a:endParaRPr>
          </a:p>
        </p:txBody>
      </p:sp>
      <p:sp>
        <p:nvSpPr>
          <p:cNvPr id="460" name="Google Shape;460;p27"/>
          <p:cNvSpPr/>
          <p:nvPr/>
        </p:nvSpPr>
        <p:spPr>
          <a:xfrm>
            <a:off x="5476875" y="2762250"/>
            <a:ext cx="171450" cy="1905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27"/>
          <p:cNvSpPr/>
          <p:nvPr/>
        </p:nvSpPr>
        <p:spPr>
          <a:xfrm>
            <a:off x="5629275" y="2714625"/>
            <a:ext cx="114300" cy="114300"/>
          </a:xfrm>
          <a:prstGeom prst="triangle">
            <a:avLst>
              <a:gd fmla="val 50000" name="adj"/>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27"/>
          <p:cNvSpPr/>
          <p:nvPr/>
        </p:nvSpPr>
        <p:spPr>
          <a:xfrm>
            <a:off x="5800725" y="2428875"/>
            <a:ext cx="1562100" cy="666750"/>
          </a:xfrm>
          <a:prstGeom prst="rect">
            <a:avLst/>
          </a:prstGeom>
          <a:solidFill>
            <a:srgbClr val="FFFFFF"/>
          </a:solidFill>
          <a:ln cap="flat" cmpd="sng" w="9525">
            <a:solidFill>
              <a:srgbClr val="087E8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27"/>
          <p:cNvSpPr/>
          <p:nvPr/>
        </p:nvSpPr>
        <p:spPr>
          <a:xfrm>
            <a:off x="5895975" y="2619375"/>
            <a:ext cx="1371600" cy="3238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102D3A"/>
                </a:solidFill>
                <a:latin typeface="Arial"/>
                <a:ea typeface="Arial"/>
                <a:cs typeface="Arial"/>
                <a:sym typeface="Arial"/>
              </a:rPr>
              <a:t>Conversation</a:t>
            </a:r>
            <a:endParaRPr b="1" i="0" sz="1050" u="none" cap="none" strike="noStrike">
              <a:solidFill>
                <a:srgbClr val="102D3A"/>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102D3A"/>
                </a:solidFill>
                <a:latin typeface="Arial"/>
                <a:ea typeface="Arial"/>
                <a:cs typeface="Arial"/>
                <a:sym typeface="Arial"/>
              </a:rPr>
              <a:t>Manager</a:t>
            </a:r>
            <a:endParaRPr b="1" i="0" sz="1050" u="none" cap="none" strike="noStrike">
              <a:solidFill>
                <a:srgbClr val="102D3A"/>
              </a:solidFill>
              <a:latin typeface="Arial"/>
              <a:ea typeface="Arial"/>
              <a:cs typeface="Arial"/>
              <a:sym typeface="Arial"/>
            </a:endParaRPr>
          </a:p>
        </p:txBody>
      </p:sp>
      <p:sp>
        <p:nvSpPr>
          <p:cNvPr id="464" name="Google Shape;464;p27"/>
          <p:cNvSpPr/>
          <p:nvPr/>
        </p:nvSpPr>
        <p:spPr>
          <a:xfrm>
            <a:off x="7429500" y="2762250"/>
            <a:ext cx="171450" cy="1905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27"/>
          <p:cNvSpPr/>
          <p:nvPr/>
        </p:nvSpPr>
        <p:spPr>
          <a:xfrm>
            <a:off x="7581900" y="2714625"/>
            <a:ext cx="114300" cy="114300"/>
          </a:xfrm>
          <a:prstGeom prst="triangle">
            <a:avLst>
              <a:gd fmla="val 50000" name="adj"/>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27"/>
          <p:cNvSpPr/>
          <p:nvPr/>
        </p:nvSpPr>
        <p:spPr>
          <a:xfrm>
            <a:off x="7753350" y="2428875"/>
            <a:ext cx="1352550" cy="666750"/>
          </a:xfrm>
          <a:prstGeom prst="rect">
            <a:avLst/>
          </a:prstGeom>
          <a:solidFill>
            <a:srgbClr val="DDECEC"/>
          </a:solidFill>
          <a:ln cap="flat" cmpd="sng" w="9525">
            <a:solidFill>
              <a:srgbClr val="087E8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27"/>
          <p:cNvSpPr/>
          <p:nvPr/>
        </p:nvSpPr>
        <p:spPr>
          <a:xfrm>
            <a:off x="7848600" y="2619375"/>
            <a:ext cx="1162050" cy="3238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102D3A"/>
                </a:solidFill>
                <a:latin typeface="Arial"/>
                <a:ea typeface="Arial"/>
                <a:cs typeface="Arial"/>
                <a:sym typeface="Arial"/>
              </a:rPr>
              <a:t>Expert</a:t>
            </a:r>
            <a:endParaRPr b="1" i="0" sz="1050" u="none" cap="none" strike="noStrike">
              <a:solidFill>
                <a:srgbClr val="102D3A"/>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102D3A"/>
                </a:solidFill>
                <a:latin typeface="Arial"/>
                <a:ea typeface="Arial"/>
                <a:cs typeface="Arial"/>
                <a:sym typeface="Arial"/>
              </a:rPr>
              <a:t>System</a:t>
            </a:r>
            <a:endParaRPr b="1" i="0" sz="1050" u="none" cap="none" strike="noStrike">
              <a:solidFill>
                <a:srgbClr val="102D3A"/>
              </a:solidFill>
              <a:latin typeface="Arial"/>
              <a:ea typeface="Arial"/>
              <a:cs typeface="Arial"/>
              <a:sym typeface="Arial"/>
            </a:endParaRPr>
          </a:p>
        </p:txBody>
      </p:sp>
      <p:sp>
        <p:nvSpPr>
          <p:cNvPr id="468" name="Google Shape;468;p27"/>
          <p:cNvSpPr/>
          <p:nvPr/>
        </p:nvSpPr>
        <p:spPr>
          <a:xfrm>
            <a:off x="9172575" y="2762250"/>
            <a:ext cx="171450" cy="1905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27"/>
          <p:cNvSpPr/>
          <p:nvPr/>
        </p:nvSpPr>
        <p:spPr>
          <a:xfrm>
            <a:off x="9324975" y="2714625"/>
            <a:ext cx="114300" cy="114300"/>
          </a:xfrm>
          <a:prstGeom prst="triangle">
            <a:avLst>
              <a:gd fmla="val 50000" name="adj"/>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27"/>
          <p:cNvSpPr/>
          <p:nvPr/>
        </p:nvSpPr>
        <p:spPr>
          <a:xfrm>
            <a:off x="9496425" y="2428875"/>
            <a:ext cx="1581150" cy="666750"/>
          </a:xfrm>
          <a:prstGeom prst="rect">
            <a:avLst/>
          </a:prstGeom>
          <a:solidFill>
            <a:srgbClr val="FFFFFF"/>
          </a:solidFill>
          <a:ln cap="flat" cmpd="sng" w="9525">
            <a:solidFill>
              <a:srgbClr val="087E8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27"/>
          <p:cNvSpPr/>
          <p:nvPr/>
        </p:nvSpPr>
        <p:spPr>
          <a:xfrm>
            <a:off x="9591675" y="2619375"/>
            <a:ext cx="1390650" cy="3238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102D3A"/>
                </a:solidFill>
                <a:latin typeface="Arial"/>
                <a:ea typeface="Arial"/>
                <a:cs typeface="Arial"/>
                <a:sym typeface="Arial"/>
              </a:rPr>
              <a:t>SQLite +</a:t>
            </a:r>
            <a:endParaRPr b="1" i="0" sz="1050" u="none" cap="none" strike="noStrike">
              <a:solidFill>
                <a:srgbClr val="102D3A"/>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102D3A"/>
                </a:solidFill>
                <a:latin typeface="Arial"/>
                <a:ea typeface="Arial"/>
                <a:cs typeface="Arial"/>
                <a:sym typeface="Arial"/>
              </a:rPr>
              <a:t>ChromaDB</a:t>
            </a:r>
            <a:endParaRPr b="1" i="0" sz="1050" u="none" cap="none" strike="noStrike">
              <a:solidFill>
                <a:srgbClr val="102D3A"/>
              </a:solidFill>
              <a:latin typeface="Arial"/>
              <a:ea typeface="Arial"/>
              <a:cs typeface="Arial"/>
              <a:sym typeface="Arial"/>
            </a:endParaRPr>
          </a:p>
        </p:txBody>
      </p:sp>
      <p:sp>
        <p:nvSpPr>
          <p:cNvPr id="472" name="Google Shape;472;p27"/>
          <p:cNvSpPr/>
          <p:nvPr/>
        </p:nvSpPr>
        <p:spPr>
          <a:xfrm>
            <a:off x="10277475" y="3095625"/>
            <a:ext cx="19050" cy="1524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27"/>
          <p:cNvSpPr/>
          <p:nvPr/>
        </p:nvSpPr>
        <p:spPr>
          <a:xfrm>
            <a:off x="9496425" y="3248025"/>
            <a:ext cx="1581150" cy="361950"/>
          </a:xfrm>
          <a:prstGeom prst="rect">
            <a:avLst/>
          </a:prstGeom>
          <a:solidFill>
            <a:srgbClr val="102D3A"/>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27"/>
          <p:cNvSpPr/>
          <p:nvPr/>
        </p:nvSpPr>
        <p:spPr>
          <a:xfrm>
            <a:off x="9601200" y="3352800"/>
            <a:ext cx="1381125"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FFFF"/>
                </a:solidFill>
                <a:latin typeface="Arial"/>
                <a:ea typeface="Arial"/>
                <a:cs typeface="Arial"/>
                <a:sym typeface="Arial"/>
              </a:rPr>
              <a:t>Focused response</a:t>
            </a:r>
            <a:endParaRPr b="1" i="0" sz="900" u="none" cap="none" strike="noStrike">
              <a:solidFill>
                <a:srgbClr val="FFFFFF"/>
              </a:solidFill>
              <a:latin typeface="Arial"/>
              <a:ea typeface="Arial"/>
              <a:cs typeface="Arial"/>
              <a:sym typeface="Arial"/>
            </a:endParaRPr>
          </a:p>
        </p:txBody>
      </p:sp>
      <p:sp>
        <p:nvSpPr>
          <p:cNvPr id="475" name="Google Shape;475;p27"/>
          <p:cNvSpPr/>
          <p:nvPr/>
        </p:nvSpPr>
        <p:spPr>
          <a:xfrm>
            <a:off x="552450" y="4124325"/>
            <a:ext cx="10839450" cy="1609725"/>
          </a:xfrm>
          <a:prstGeom prst="rect">
            <a:avLst/>
          </a:prstGeom>
          <a:solidFill>
            <a:srgbClr val="FFFFFF"/>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27"/>
          <p:cNvSpPr/>
          <p:nvPr/>
        </p:nvSpPr>
        <p:spPr>
          <a:xfrm>
            <a:off x="800100" y="4362450"/>
            <a:ext cx="3810000" cy="190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87E83"/>
                </a:solidFill>
                <a:latin typeface="Arial"/>
                <a:ea typeface="Arial"/>
                <a:cs typeface="Arial"/>
                <a:sym typeface="Arial"/>
              </a:rPr>
              <a:t>WHAT HAPPENS INSIDE THIS FLOW</a:t>
            </a:r>
            <a:endParaRPr b="1" i="0" sz="750" u="none" cap="none" strike="noStrike">
              <a:solidFill>
                <a:srgbClr val="087E83"/>
              </a:solidFill>
              <a:latin typeface="Arial"/>
              <a:ea typeface="Arial"/>
              <a:cs typeface="Arial"/>
              <a:sym typeface="Arial"/>
            </a:endParaRPr>
          </a:p>
        </p:txBody>
      </p:sp>
      <p:sp>
        <p:nvSpPr>
          <p:cNvPr id="477" name="Google Shape;477;p27"/>
          <p:cNvSpPr/>
          <p:nvPr/>
        </p:nvSpPr>
        <p:spPr>
          <a:xfrm>
            <a:off x="800100" y="4686300"/>
            <a:ext cx="10096500" cy="25717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90"/>
              <a:buFont typeface="Arial"/>
              <a:buNone/>
            </a:pPr>
            <a:r>
              <a:rPr b="0" i="0" lang="en-US" sz="1090" u="none" cap="none" strike="noStrike">
                <a:solidFill>
                  <a:srgbClr val="102D3A"/>
                </a:solidFill>
                <a:latin typeface="Arial"/>
                <a:ea typeface="Arial"/>
                <a:cs typeface="Arial"/>
                <a:sym typeface="Arial"/>
              </a:rPr>
              <a:t>1. The conversation manager stores the incident slots and asks follow-up questions when required information is missing.</a:t>
            </a:r>
            <a:endParaRPr b="0" i="0" sz="1090" u="none" cap="none" strike="noStrike">
              <a:solidFill>
                <a:srgbClr val="102D3A"/>
              </a:solidFill>
              <a:latin typeface="Arial"/>
              <a:ea typeface="Arial"/>
              <a:cs typeface="Arial"/>
              <a:sym typeface="Arial"/>
            </a:endParaRPr>
          </a:p>
        </p:txBody>
      </p:sp>
      <p:sp>
        <p:nvSpPr>
          <p:cNvPr id="478" name="Google Shape;478;p27"/>
          <p:cNvSpPr/>
          <p:nvPr/>
        </p:nvSpPr>
        <p:spPr>
          <a:xfrm>
            <a:off x="800100" y="5038725"/>
            <a:ext cx="10096500" cy="25717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90"/>
              <a:buFont typeface="Arial"/>
              <a:buNone/>
            </a:pPr>
            <a:r>
              <a:rPr b="0" i="0" lang="en-US" sz="1090" u="none" cap="none" strike="noStrike">
                <a:solidFill>
                  <a:srgbClr val="102D3A"/>
                </a:solidFill>
                <a:latin typeface="Arial"/>
                <a:ea typeface="Arial"/>
                <a:cs typeface="Arial"/>
                <a:sym typeface="Arial"/>
              </a:rPr>
              <a:t>2. SQLite selects a structured contingency or station plan when location and incident details match.</a:t>
            </a:r>
            <a:endParaRPr b="0" i="0" sz="1090" u="none" cap="none" strike="noStrike">
              <a:solidFill>
                <a:srgbClr val="102D3A"/>
              </a:solidFill>
              <a:latin typeface="Arial"/>
              <a:ea typeface="Arial"/>
              <a:cs typeface="Arial"/>
              <a:sym typeface="Arial"/>
            </a:endParaRPr>
          </a:p>
        </p:txBody>
      </p:sp>
      <p:sp>
        <p:nvSpPr>
          <p:cNvPr id="479" name="Google Shape;479;p27"/>
          <p:cNvSpPr/>
          <p:nvPr/>
        </p:nvSpPr>
        <p:spPr>
          <a:xfrm>
            <a:off x="800100" y="5391150"/>
            <a:ext cx="10096500" cy="29527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90"/>
              <a:buFont typeface="Arial"/>
              <a:buNone/>
            </a:pPr>
            <a:r>
              <a:rPr b="0" i="0" lang="en-US" sz="1090" u="none" cap="none" strike="noStrike">
                <a:solidFill>
                  <a:srgbClr val="102D3A"/>
                </a:solidFill>
                <a:latin typeface="Arial"/>
                <a:ea typeface="Arial"/>
                <a:cs typeface="Arial"/>
                <a:sym typeface="Arial"/>
              </a:rPr>
              <a:t>3. ChromaDB semantic retrieval can supplement missing fields or return relevant operational guidance when exact matching is insufficient.</a:t>
            </a:r>
            <a:endParaRPr b="0" i="0" sz="1090" u="none" cap="none" strike="noStrike">
              <a:solidFill>
                <a:srgbClr val="102D3A"/>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g3e53c7b4ed2_0_45"/>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102D3A"/>
              </a:solidFill>
              <a:latin typeface="Arial"/>
              <a:ea typeface="Arial"/>
              <a:cs typeface="Arial"/>
              <a:sym typeface="Arial"/>
            </a:endParaRPr>
          </a:p>
        </p:txBody>
      </p:sp>
      <p:sp>
        <p:nvSpPr>
          <p:cNvPr id="486" name="Google Shape;486;g3e53c7b4ed2_0_45"/>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g3e53c7b4ed2_0_45"/>
          <p:cNvSpPr/>
          <p:nvPr/>
        </p:nvSpPr>
        <p:spPr>
          <a:xfrm>
            <a:off x="552450" y="6438900"/>
            <a:ext cx="11087100" cy="9600"/>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g3e53c7b4ed2_0_45"/>
          <p:cNvSpPr/>
          <p:nvPr/>
        </p:nvSpPr>
        <p:spPr>
          <a:xfrm>
            <a:off x="623470" y="4868975"/>
            <a:ext cx="5429400" cy="247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t/>
            </a:r>
            <a:endParaRPr b="1" i="0" sz="1275" u="none" cap="none" strike="noStrike">
              <a:solidFill>
                <a:srgbClr val="102D3A"/>
              </a:solidFill>
              <a:latin typeface="Arial"/>
              <a:ea typeface="Arial"/>
              <a:cs typeface="Arial"/>
              <a:sym typeface="Arial"/>
            </a:endParaRPr>
          </a:p>
        </p:txBody>
      </p:sp>
      <p:sp>
        <p:nvSpPr>
          <p:cNvPr id="489" name="Google Shape;489;g3e53c7b4ed2_0_45"/>
          <p:cNvSpPr/>
          <p:nvPr/>
        </p:nvSpPr>
        <p:spPr>
          <a:xfrm>
            <a:off x="6518275" y="852805"/>
            <a:ext cx="2857500" cy="764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87E83"/>
              </a:solidFill>
              <a:latin typeface="Arial"/>
              <a:ea typeface="Arial"/>
              <a:cs typeface="Arial"/>
              <a:sym typeface="Arial"/>
            </a:endParaRPr>
          </a:p>
        </p:txBody>
      </p:sp>
      <p:sp>
        <p:nvSpPr>
          <p:cNvPr id="490" name="Google Shape;490;g3e53c7b4ed2_0_45"/>
          <p:cNvSpPr txBox="1"/>
          <p:nvPr/>
        </p:nvSpPr>
        <p:spPr>
          <a:xfrm>
            <a:off x="209550" y="584835"/>
            <a:ext cx="11640300" cy="60129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 </a:t>
            </a:r>
            <a:r>
              <a:rPr b="0" i="0" lang="en-US" sz="2200" u="none" cap="none" strike="noStrike">
                <a:solidFill>
                  <a:srgbClr val="000000"/>
                </a:solidFill>
                <a:latin typeface="Arial"/>
                <a:ea typeface="Arial"/>
                <a:cs typeface="Arial"/>
                <a:sym typeface="Arial"/>
              </a:rPr>
              <a:t>  </a:t>
            </a:r>
            <a:r>
              <a:rPr b="0" i="0" lang="en-US" sz="2200" u="none" cap="none" strike="noStrike">
                <a:solidFill>
                  <a:srgbClr val="1F5C99"/>
                </a:solidFill>
                <a:latin typeface="Arial"/>
                <a:ea typeface="Arial"/>
                <a:cs typeface="Arial"/>
                <a:sym typeface="Arial"/>
              </a:rPr>
              <a:t>OUTPUT</a:t>
            </a:r>
            <a:endParaRPr b="0" i="0" sz="2200" u="none" cap="none" strike="noStrike">
              <a:solidFill>
                <a:srgbClr val="1F5C99"/>
              </a:solidFill>
              <a:latin typeface="Arial"/>
              <a:ea typeface="Arial"/>
              <a:cs typeface="Arial"/>
              <a:sym typeface="Arial"/>
            </a:endParaRPr>
          </a:p>
        </p:txBody>
      </p:sp>
      <p:sp>
        <p:nvSpPr>
          <p:cNvPr id="491" name="Google Shape;491;g3e53c7b4ed2_0_45"/>
          <p:cNvSpPr/>
          <p:nvPr/>
        </p:nvSpPr>
        <p:spPr>
          <a:xfrm flipH="1" rot="10800000">
            <a:off x="407035" y="1076960"/>
            <a:ext cx="31059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92" name="Google Shape;492;g3e53c7b4ed2_0_45" title="WhatsApp Image 2026-05-27 at 13.33.08.jpeg"/>
          <p:cNvPicPr preferRelativeResize="0"/>
          <p:nvPr/>
        </p:nvPicPr>
        <p:blipFill>
          <a:blip r:embed="rId3">
            <a:alphaModFix/>
          </a:blip>
          <a:stretch>
            <a:fillRect/>
          </a:stretch>
        </p:blipFill>
        <p:spPr>
          <a:xfrm>
            <a:off x="113875" y="1787925"/>
            <a:ext cx="6139950" cy="4016175"/>
          </a:xfrm>
          <a:prstGeom prst="rect">
            <a:avLst/>
          </a:prstGeom>
          <a:noFill/>
          <a:ln>
            <a:noFill/>
          </a:ln>
        </p:spPr>
      </p:pic>
      <p:pic>
        <p:nvPicPr>
          <p:cNvPr id="493" name="Google Shape;493;g3e53c7b4ed2_0_45" title="WhatsApp Image 2026-05-27 at 13.39.22.jpeg"/>
          <p:cNvPicPr preferRelativeResize="0"/>
          <p:nvPr/>
        </p:nvPicPr>
        <p:blipFill>
          <a:blip r:embed="rId4">
            <a:alphaModFix/>
          </a:blip>
          <a:stretch>
            <a:fillRect/>
          </a:stretch>
        </p:blipFill>
        <p:spPr>
          <a:xfrm>
            <a:off x="6420450" y="1787925"/>
            <a:ext cx="5429400" cy="40161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29"/>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29"/>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29"/>
          <p:cNvSpPr/>
          <p:nvPr/>
        </p:nvSpPr>
        <p:spPr>
          <a:xfrm>
            <a:off x="552450" y="276225"/>
            <a:ext cx="619125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15"/>
              <a:buFont typeface="Arial"/>
              <a:buNone/>
            </a:pPr>
            <a:r>
              <a:rPr b="1" i="0" lang="en-US" sz="715" u="none" cap="none" strike="noStrike">
                <a:solidFill>
                  <a:srgbClr val="087E83"/>
                </a:solidFill>
                <a:latin typeface="Arial"/>
                <a:ea typeface="Arial"/>
                <a:cs typeface="Arial"/>
                <a:sym typeface="Arial"/>
              </a:rPr>
              <a:t>TASK 3  /  RAILWAY DISRUPTION EXPERT SYSTEM</a:t>
            </a:r>
            <a:endParaRPr b="1" i="0" sz="715" u="none" cap="none" strike="noStrike">
              <a:solidFill>
                <a:srgbClr val="087E83"/>
              </a:solidFill>
              <a:latin typeface="Arial"/>
              <a:ea typeface="Arial"/>
              <a:cs typeface="Arial"/>
              <a:sym typeface="Arial"/>
            </a:endParaRPr>
          </a:p>
        </p:txBody>
      </p:sp>
      <p:sp>
        <p:nvSpPr>
          <p:cNvPr id="502" name="Google Shape;502;p29"/>
          <p:cNvSpPr/>
          <p:nvPr/>
        </p:nvSpPr>
        <p:spPr>
          <a:xfrm>
            <a:off x="8782050" y="276225"/>
            <a:ext cx="2857500" cy="171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5"/>
              <a:buFont typeface="Arial"/>
              <a:buNone/>
            </a:pPr>
            <a:r>
              <a:rPr b="1" i="0" lang="en-US" sz="715" u="none" cap="none" strike="noStrike">
                <a:solidFill>
                  <a:srgbClr val="506471"/>
                </a:solidFill>
                <a:latin typeface="Arial"/>
                <a:ea typeface="Arial"/>
                <a:cs typeface="Arial"/>
                <a:sym typeface="Arial"/>
              </a:rPr>
              <a:t>CONCLUSION</a:t>
            </a:r>
            <a:endParaRPr b="1" i="0" sz="715" u="none" cap="none" strike="noStrike">
              <a:solidFill>
                <a:srgbClr val="506471"/>
              </a:solidFill>
              <a:latin typeface="Arial"/>
              <a:ea typeface="Arial"/>
              <a:cs typeface="Arial"/>
              <a:sym typeface="Arial"/>
            </a:endParaRPr>
          </a:p>
        </p:txBody>
      </p:sp>
      <p:sp>
        <p:nvSpPr>
          <p:cNvPr id="503" name="Google Shape;503;p29"/>
          <p:cNvSpPr/>
          <p:nvPr/>
        </p:nvSpPr>
        <p:spPr>
          <a:xfrm>
            <a:off x="552450" y="6438900"/>
            <a:ext cx="11087100" cy="9525"/>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29"/>
          <p:cNvSpPr/>
          <p:nvPr/>
        </p:nvSpPr>
        <p:spPr>
          <a:xfrm>
            <a:off x="552450" y="647700"/>
            <a:ext cx="1066800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02D3A"/>
                </a:solidFill>
                <a:latin typeface="Play"/>
                <a:ea typeface="Play"/>
                <a:cs typeface="Play"/>
                <a:sym typeface="Play"/>
              </a:rPr>
              <a:t>What Task 3 achieves - and what remains</a:t>
            </a:r>
            <a:endParaRPr b="1" i="0" sz="2400" u="none" cap="none" strike="noStrike">
              <a:solidFill>
                <a:srgbClr val="102D3A"/>
              </a:solidFill>
              <a:latin typeface="Play"/>
              <a:ea typeface="Play"/>
              <a:cs typeface="Play"/>
              <a:sym typeface="Play"/>
            </a:endParaRPr>
          </a:p>
        </p:txBody>
      </p:sp>
      <p:sp>
        <p:nvSpPr>
          <p:cNvPr id="505" name="Google Shape;505;p29"/>
          <p:cNvSpPr/>
          <p:nvPr/>
        </p:nvSpPr>
        <p:spPr>
          <a:xfrm>
            <a:off x="552450" y="1200150"/>
            <a:ext cx="10429875" cy="3619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506471"/>
                </a:solidFill>
                <a:latin typeface="Arial"/>
                <a:ea typeface="Arial"/>
                <a:cs typeface="Arial"/>
                <a:sym typeface="Arial"/>
              </a:rPr>
              <a:t>An implemented and explainable disruption-assistance feature within the wider railway chatbot.</a:t>
            </a:r>
            <a:endParaRPr b="0" i="0" sz="1050" u="none" cap="none" strike="noStrike">
              <a:solidFill>
                <a:srgbClr val="506471"/>
              </a:solidFill>
              <a:latin typeface="Arial"/>
              <a:ea typeface="Arial"/>
              <a:cs typeface="Arial"/>
              <a:sym typeface="Arial"/>
            </a:endParaRPr>
          </a:p>
        </p:txBody>
      </p:sp>
      <p:sp>
        <p:nvSpPr>
          <p:cNvPr id="506" name="Google Shape;506;p29"/>
          <p:cNvSpPr/>
          <p:nvPr/>
        </p:nvSpPr>
        <p:spPr>
          <a:xfrm>
            <a:off x="552450" y="1800225"/>
            <a:ext cx="5162550" cy="3943350"/>
          </a:xfrm>
          <a:prstGeom prst="rect">
            <a:avLst/>
          </a:prstGeom>
          <a:solidFill>
            <a:srgbClr val="DDECEC"/>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29"/>
          <p:cNvSpPr/>
          <p:nvPr/>
        </p:nvSpPr>
        <p:spPr>
          <a:xfrm>
            <a:off x="838200" y="2076450"/>
            <a:ext cx="3429000" cy="190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87E83"/>
                </a:solidFill>
                <a:latin typeface="Arial"/>
                <a:ea typeface="Arial"/>
                <a:cs typeface="Arial"/>
                <a:sym typeface="Arial"/>
              </a:rPr>
              <a:t>CONCLUSION</a:t>
            </a:r>
            <a:endParaRPr b="1" i="0" sz="750" u="none" cap="none" strike="noStrike">
              <a:solidFill>
                <a:srgbClr val="087E83"/>
              </a:solidFill>
              <a:latin typeface="Arial"/>
              <a:ea typeface="Arial"/>
              <a:cs typeface="Arial"/>
              <a:sym typeface="Arial"/>
            </a:endParaRPr>
          </a:p>
        </p:txBody>
      </p:sp>
      <p:sp>
        <p:nvSpPr>
          <p:cNvPr id="508" name="Google Shape;508;p29"/>
          <p:cNvSpPr/>
          <p:nvPr/>
        </p:nvSpPr>
        <p:spPr>
          <a:xfrm>
            <a:off x="838200" y="2486025"/>
            <a:ext cx="4476750" cy="933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102D3A"/>
                </a:solidFill>
                <a:latin typeface="Play"/>
                <a:ea typeface="Play"/>
                <a:cs typeface="Play"/>
                <a:sym typeface="Play"/>
              </a:rPr>
              <a:t>Task 3 changes the chatbot from a general railway information interface into an expert-system assistant for disruption planning.</a:t>
            </a:r>
            <a:endParaRPr b="1" i="0" sz="1650" u="none" cap="none" strike="noStrike">
              <a:solidFill>
                <a:srgbClr val="102D3A"/>
              </a:solidFill>
              <a:latin typeface="Play"/>
              <a:ea typeface="Play"/>
              <a:cs typeface="Play"/>
              <a:sym typeface="Play"/>
            </a:endParaRPr>
          </a:p>
        </p:txBody>
      </p:sp>
      <p:sp>
        <p:nvSpPr>
          <p:cNvPr id="509" name="Google Shape;509;p29"/>
          <p:cNvSpPr/>
          <p:nvPr/>
        </p:nvSpPr>
        <p:spPr>
          <a:xfrm>
            <a:off x="838200" y="3905250"/>
            <a:ext cx="57150" cy="5715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29"/>
          <p:cNvSpPr/>
          <p:nvPr/>
        </p:nvSpPr>
        <p:spPr>
          <a:xfrm>
            <a:off x="1009650" y="3829050"/>
            <a:ext cx="430530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D3A"/>
                </a:solidFill>
                <a:latin typeface="Arial"/>
                <a:ea typeface="Arial"/>
                <a:cs typeface="Arial"/>
                <a:sym typeface="Arial"/>
              </a:rPr>
              <a:t>It guides users to relevant existing advice for line blockages and station disruptions.</a:t>
            </a:r>
            <a:endParaRPr b="0" i="0" sz="1125" u="none" cap="none" strike="noStrike">
              <a:solidFill>
                <a:srgbClr val="102D3A"/>
              </a:solidFill>
              <a:latin typeface="Arial"/>
              <a:ea typeface="Arial"/>
              <a:cs typeface="Arial"/>
              <a:sym typeface="Arial"/>
            </a:endParaRPr>
          </a:p>
        </p:txBody>
      </p:sp>
      <p:sp>
        <p:nvSpPr>
          <p:cNvPr id="511" name="Google Shape;511;p29"/>
          <p:cNvSpPr/>
          <p:nvPr/>
        </p:nvSpPr>
        <p:spPr>
          <a:xfrm>
            <a:off x="838200" y="4648200"/>
            <a:ext cx="57150" cy="5715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29"/>
          <p:cNvSpPr/>
          <p:nvPr/>
        </p:nvSpPr>
        <p:spPr>
          <a:xfrm>
            <a:off x="1009650" y="4572000"/>
            <a:ext cx="4305300" cy="685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D3A"/>
                </a:solidFill>
                <a:latin typeface="Arial"/>
                <a:ea typeface="Arial"/>
                <a:cs typeface="Arial"/>
                <a:sym typeface="Arial"/>
              </a:rPr>
              <a:t>It combines structured matching with semantic support while keeping the response clear and audience-focused.</a:t>
            </a:r>
            <a:endParaRPr b="0" i="0" sz="1125" u="none" cap="none" strike="noStrike">
              <a:solidFill>
                <a:srgbClr val="102D3A"/>
              </a:solidFill>
              <a:latin typeface="Arial"/>
              <a:ea typeface="Arial"/>
              <a:cs typeface="Arial"/>
              <a:sym typeface="Arial"/>
            </a:endParaRPr>
          </a:p>
        </p:txBody>
      </p:sp>
      <p:sp>
        <p:nvSpPr>
          <p:cNvPr id="513" name="Google Shape;513;p29"/>
          <p:cNvSpPr/>
          <p:nvPr/>
        </p:nvSpPr>
        <p:spPr>
          <a:xfrm>
            <a:off x="5962650" y="1800225"/>
            <a:ext cx="5429250" cy="3943350"/>
          </a:xfrm>
          <a:prstGeom prst="rect">
            <a:avLst/>
          </a:prstGeom>
          <a:solidFill>
            <a:srgbClr val="FFFFFF"/>
          </a:solidFill>
          <a:ln cap="flat" cmpd="sng" w="9525">
            <a:solidFill>
              <a:srgbClr val="D4DD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29"/>
          <p:cNvSpPr/>
          <p:nvPr/>
        </p:nvSpPr>
        <p:spPr>
          <a:xfrm>
            <a:off x="6257925" y="2076450"/>
            <a:ext cx="4143375" cy="190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87E83"/>
                </a:solidFill>
                <a:latin typeface="Arial"/>
                <a:ea typeface="Arial"/>
                <a:cs typeface="Arial"/>
                <a:sym typeface="Arial"/>
              </a:rPr>
              <a:t>LIMITATIONS AND IMPROVEMENTS</a:t>
            </a:r>
            <a:endParaRPr b="1" i="0" sz="750" u="none" cap="none" strike="noStrike">
              <a:solidFill>
                <a:srgbClr val="087E83"/>
              </a:solidFill>
              <a:latin typeface="Arial"/>
              <a:ea typeface="Arial"/>
              <a:cs typeface="Arial"/>
              <a:sym typeface="Arial"/>
            </a:endParaRPr>
          </a:p>
        </p:txBody>
      </p:sp>
      <p:sp>
        <p:nvSpPr>
          <p:cNvPr id="515" name="Google Shape;515;p29"/>
          <p:cNvSpPr/>
          <p:nvPr/>
        </p:nvSpPr>
        <p:spPr>
          <a:xfrm>
            <a:off x="6257925" y="2524125"/>
            <a:ext cx="57150" cy="57150"/>
          </a:xfrm>
          <a:prstGeom prst="rect">
            <a:avLst/>
          </a:prstGeom>
          <a:solidFill>
            <a:srgbClr val="B56C27"/>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29"/>
          <p:cNvSpPr/>
          <p:nvPr/>
        </p:nvSpPr>
        <p:spPr>
          <a:xfrm>
            <a:off x="6429375" y="2447925"/>
            <a:ext cx="4524375" cy="590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D3A"/>
                </a:solidFill>
                <a:latin typeface="Arial"/>
                <a:ea typeface="Arial"/>
                <a:cs typeface="Arial"/>
                <a:sym typeface="Arial"/>
              </a:rPr>
              <a:t>Quality depends on the accuracy and completeness of the extracted contingency documents.</a:t>
            </a:r>
            <a:endParaRPr b="0" i="0" sz="1125" u="none" cap="none" strike="noStrike">
              <a:solidFill>
                <a:srgbClr val="102D3A"/>
              </a:solidFill>
              <a:latin typeface="Arial"/>
              <a:ea typeface="Arial"/>
              <a:cs typeface="Arial"/>
              <a:sym typeface="Arial"/>
            </a:endParaRPr>
          </a:p>
        </p:txBody>
      </p:sp>
      <p:sp>
        <p:nvSpPr>
          <p:cNvPr id="517" name="Google Shape;517;p29"/>
          <p:cNvSpPr/>
          <p:nvPr/>
        </p:nvSpPr>
        <p:spPr>
          <a:xfrm>
            <a:off x="6257925" y="3257550"/>
            <a:ext cx="57150" cy="57150"/>
          </a:xfrm>
          <a:prstGeom prst="rect">
            <a:avLst/>
          </a:prstGeom>
          <a:solidFill>
            <a:srgbClr val="B56C27"/>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29"/>
          <p:cNvSpPr/>
          <p:nvPr/>
        </p:nvSpPr>
        <p:spPr>
          <a:xfrm>
            <a:off x="6429375" y="3181350"/>
            <a:ext cx="4524375" cy="781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D3A"/>
                </a:solidFill>
                <a:latin typeface="Arial"/>
                <a:ea typeface="Arial"/>
                <a:cs typeface="Arial"/>
                <a:sym typeface="Arial"/>
              </a:rPr>
              <a:t>Unusual station spelling or route wording can reduce matching reliability; stronger alias normalisation is a sensible improvement.</a:t>
            </a:r>
            <a:endParaRPr b="0" i="0" sz="1125" u="none" cap="none" strike="noStrike">
              <a:solidFill>
                <a:srgbClr val="102D3A"/>
              </a:solidFill>
              <a:latin typeface="Arial"/>
              <a:ea typeface="Arial"/>
              <a:cs typeface="Arial"/>
              <a:sym typeface="Arial"/>
            </a:endParaRPr>
          </a:p>
        </p:txBody>
      </p:sp>
      <p:sp>
        <p:nvSpPr>
          <p:cNvPr id="519" name="Google Shape;519;p29"/>
          <p:cNvSpPr/>
          <p:nvPr/>
        </p:nvSpPr>
        <p:spPr>
          <a:xfrm>
            <a:off x="6257925" y="4181475"/>
            <a:ext cx="57150" cy="5715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29"/>
          <p:cNvSpPr/>
          <p:nvPr/>
        </p:nvSpPr>
        <p:spPr>
          <a:xfrm>
            <a:off x="6429375" y="4105275"/>
            <a:ext cx="4524375" cy="6096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D3A"/>
                </a:solidFill>
                <a:latin typeface="Arial"/>
                <a:ea typeface="Arial"/>
                <a:cs typeface="Arial"/>
                <a:sym typeface="Arial"/>
              </a:rPr>
              <a:t>Regression tests and an admin evidence view would make retrieval behaviour easier to validate.</a:t>
            </a:r>
            <a:endParaRPr b="0" i="0" sz="1125" u="none" cap="none" strike="noStrike">
              <a:solidFill>
                <a:srgbClr val="102D3A"/>
              </a:solidFill>
              <a:latin typeface="Arial"/>
              <a:ea typeface="Arial"/>
              <a:cs typeface="Arial"/>
              <a:sym typeface="Arial"/>
            </a:endParaRPr>
          </a:p>
        </p:txBody>
      </p:sp>
      <p:sp>
        <p:nvSpPr>
          <p:cNvPr id="521" name="Google Shape;521;p29"/>
          <p:cNvSpPr/>
          <p:nvPr/>
        </p:nvSpPr>
        <p:spPr>
          <a:xfrm>
            <a:off x="6257925" y="4933950"/>
            <a:ext cx="57150" cy="57150"/>
          </a:xfrm>
          <a:prstGeom prst="rect">
            <a:avLst/>
          </a:prstGeom>
          <a:solidFill>
            <a:srgbClr val="B56C27"/>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29"/>
          <p:cNvSpPr/>
          <p:nvPr/>
        </p:nvSpPr>
        <p:spPr>
          <a:xfrm>
            <a:off x="6429375" y="4857750"/>
            <a:ext cx="4524375" cy="60007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D3A"/>
                </a:solidFill>
                <a:latin typeface="Arial"/>
                <a:ea typeface="Arial"/>
                <a:cs typeface="Arial"/>
                <a:sym typeface="Arial"/>
              </a:rPr>
              <a:t>The current system has no live railway-control connection; live integration would be future work, not a present claim.</a:t>
            </a:r>
            <a:endParaRPr b="0" i="0" sz="1125" u="none" cap="none" strike="noStrike">
              <a:solidFill>
                <a:srgbClr val="102D3A"/>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30"/>
          <p:cNvSpPr/>
          <p:nvPr/>
        </p:nvSpPr>
        <p:spPr>
          <a:xfrm>
            <a:off x="0" y="0"/>
            <a:ext cx="12192000" cy="6858000"/>
          </a:xfrm>
          <a:prstGeom prst="rect">
            <a:avLst/>
          </a:prstGeom>
          <a:solidFill>
            <a:srgbClr val="F8F7F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102D3A"/>
              </a:solidFill>
              <a:latin typeface="Arial"/>
              <a:ea typeface="Arial"/>
              <a:cs typeface="Arial"/>
              <a:sym typeface="Arial"/>
            </a:endParaRPr>
          </a:p>
        </p:txBody>
      </p:sp>
      <p:sp>
        <p:nvSpPr>
          <p:cNvPr id="529" name="Google Shape;529;p30"/>
          <p:cNvSpPr/>
          <p:nvPr/>
        </p:nvSpPr>
        <p:spPr>
          <a:xfrm>
            <a:off x="0" y="0"/>
            <a:ext cx="12192000"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30"/>
          <p:cNvSpPr/>
          <p:nvPr/>
        </p:nvSpPr>
        <p:spPr>
          <a:xfrm>
            <a:off x="552450" y="6438900"/>
            <a:ext cx="11087100" cy="9525"/>
          </a:xfrm>
          <a:prstGeom prst="rect">
            <a:avLst/>
          </a:prstGeom>
          <a:solidFill>
            <a:srgbClr val="D4DDD9"/>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30"/>
          <p:cNvSpPr/>
          <p:nvPr/>
        </p:nvSpPr>
        <p:spPr>
          <a:xfrm>
            <a:off x="623470" y="4868975"/>
            <a:ext cx="5429400" cy="247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75"/>
              <a:buFont typeface="Arial"/>
              <a:buNone/>
            </a:pPr>
            <a:r>
              <a:t/>
            </a:r>
            <a:endParaRPr b="1" i="0" sz="1275" u="none" cap="none" strike="noStrike">
              <a:solidFill>
                <a:srgbClr val="102D3A"/>
              </a:solidFill>
              <a:latin typeface="Arial"/>
              <a:ea typeface="Arial"/>
              <a:cs typeface="Arial"/>
              <a:sym typeface="Arial"/>
            </a:endParaRPr>
          </a:p>
        </p:txBody>
      </p:sp>
      <p:sp>
        <p:nvSpPr>
          <p:cNvPr id="532" name="Google Shape;532;p30"/>
          <p:cNvSpPr/>
          <p:nvPr/>
        </p:nvSpPr>
        <p:spPr>
          <a:xfrm>
            <a:off x="6518275" y="852805"/>
            <a:ext cx="2857500" cy="76454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87E83"/>
              </a:solidFill>
              <a:latin typeface="Arial"/>
              <a:ea typeface="Arial"/>
              <a:cs typeface="Arial"/>
              <a:sym typeface="Arial"/>
            </a:endParaRPr>
          </a:p>
        </p:txBody>
      </p:sp>
      <p:sp>
        <p:nvSpPr>
          <p:cNvPr id="533" name="Google Shape;533;p30"/>
          <p:cNvSpPr txBox="1"/>
          <p:nvPr/>
        </p:nvSpPr>
        <p:spPr>
          <a:xfrm>
            <a:off x="209550" y="584835"/>
            <a:ext cx="11640185" cy="6012815"/>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 </a:t>
            </a:r>
            <a:r>
              <a:rPr b="0" i="0" lang="en-US" sz="2200" u="none" cap="none" strike="noStrike">
                <a:solidFill>
                  <a:srgbClr val="000000"/>
                </a:solidFill>
                <a:latin typeface="Arial"/>
                <a:ea typeface="Arial"/>
                <a:cs typeface="Arial"/>
                <a:sym typeface="Arial"/>
              </a:rPr>
              <a:t>  </a:t>
            </a:r>
            <a:r>
              <a:rPr b="0" i="0" lang="en-US" sz="2200" u="none" cap="none" strike="noStrike">
                <a:solidFill>
                  <a:srgbClr val="1F5C99"/>
                </a:solidFill>
                <a:latin typeface="Arial"/>
                <a:ea typeface="Arial"/>
                <a:cs typeface="Arial"/>
                <a:sym typeface="Arial"/>
              </a:rPr>
              <a:t>CONCLUSION</a:t>
            </a:r>
            <a:endParaRPr b="0" i="0" sz="2200" u="none" cap="none" strike="noStrike">
              <a:solidFill>
                <a:srgbClr val="1F5C99"/>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We successfully developed a railway ticket chatbot that supports a realistic user conversation. The system collects all required journey information, handles railcards and return tickets, validates station names, and uses National Rail API data where available.</a:t>
            </a:r>
            <a:endParaRPr b="0" i="0" sz="22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The development process involved solving practical chatbot issues such as incomplete API data, ambiguous station names, and railcard parsing. Overall, the chatbot provides a useful and interactive way for users to search for train tickets.</a:t>
            </a:r>
            <a:endParaRPr b="0" i="0" sz="22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SzPts val="2200"/>
              <a:buChar char="•"/>
            </a:pPr>
            <a:r>
              <a:rPr lang="en-US" sz="2200"/>
              <a:t>We developed a train delay prediction system for users to predict when their delayed train will arrive at their destination.</a:t>
            </a:r>
            <a:endParaRPr sz="2200"/>
          </a:p>
          <a:p>
            <a:pPr indent="-285750" lvl="0" marL="285750" marR="0" rtl="0" algn="just">
              <a:lnSpc>
                <a:spcPct val="100000"/>
              </a:lnSpc>
              <a:spcBef>
                <a:spcPts val="0"/>
              </a:spcBef>
              <a:spcAft>
                <a:spcPts val="0"/>
              </a:spcAft>
              <a:buSzPts val="2200"/>
              <a:buChar char="•"/>
            </a:pPr>
            <a:r>
              <a:rPr lang="en-US" sz="2200"/>
              <a:t>We successfully developed an expert-system chatbot for railway disruption guidance. It collects key incident details through conversation and returns clear operational advice.</a:t>
            </a:r>
            <a:endParaRPr sz="2200"/>
          </a:p>
          <a:p>
            <a:pPr indent="-285750" lvl="0" marL="285750" marR="0" rtl="0" algn="just">
              <a:lnSpc>
                <a:spcPct val="100000"/>
              </a:lnSpc>
              <a:spcBef>
                <a:spcPts val="0"/>
              </a:spcBef>
              <a:spcAft>
                <a:spcPts val="0"/>
              </a:spcAft>
              <a:buSzPts val="2200"/>
              <a:buChar char="•"/>
            </a:pPr>
            <a:r>
              <a:rPr lang="en-US" sz="2200"/>
              <a:t>We successfully developed a hybrid retrieval approach using SQLite and ChromaDB. This helps the chatbot match structured disruption details while also handling natural user wording.</a:t>
            </a:r>
            <a:endParaRPr sz="2200"/>
          </a:p>
          <a:p>
            <a:pPr indent="0" lvl="0" marL="0" marR="0" rtl="0" algn="just">
              <a:lnSpc>
                <a:spcPct val="100000"/>
              </a:lnSpc>
              <a:spcBef>
                <a:spcPts val="0"/>
              </a:spcBef>
              <a:spcAft>
                <a:spcPts val="0"/>
              </a:spcAft>
              <a:buClr>
                <a:srgbClr val="000000"/>
              </a:buClr>
              <a:buSzPts val="2200"/>
              <a:buFont typeface="Arial"/>
              <a:buNone/>
            </a:pPr>
            <a:r>
              <a:t/>
            </a:r>
            <a:endParaRPr b="0" i="0" sz="2200" u="none" cap="none" strike="noStrike">
              <a:solidFill>
                <a:srgbClr val="1F5C99"/>
              </a:solidFill>
              <a:latin typeface="Arial"/>
              <a:ea typeface="Arial"/>
              <a:cs typeface="Arial"/>
              <a:sym typeface="Arial"/>
            </a:endParaRPr>
          </a:p>
        </p:txBody>
      </p:sp>
      <p:sp>
        <p:nvSpPr>
          <p:cNvPr id="534" name="Google Shape;534;p30"/>
          <p:cNvSpPr/>
          <p:nvPr/>
        </p:nvSpPr>
        <p:spPr>
          <a:xfrm flipH="1" rot="10800000">
            <a:off x="407035" y="1076960"/>
            <a:ext cx="3105785" cy="76200"/>
          </a:xfrm>
          <a:prstGeom prst="rect">
            <a:avLst/>
          </a:prstGeom>
          <a:solidFill>
            <a:srgbClr val="087E83"/>
          </a:solidFill>
          <a:ln cap="flat" cmpd="sng" w="9525">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31"/>
          <p:cNvSpPr txBox="1"/>
          <p:nvPr>
            <p:ph type="title"/>
          </p:nvPr>
        </p:nvSpPr>
        <p:spPr>
          <a:xfrm>
            <a:off x="1717140" y="3120880"/>
            <a:ext cx="8938200" cy="11817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None/>
            </a:pPr>
            <a:r>
              <a:rPr b="1" i="0" lang="en-US" sz="3600" u="none" cap="none" strike="noStrike">
                <a:solidFill>
                  <a:schemeClr val="accent1"/>
                </a:solidFill>
                <a:latin typeface="Arial"/>
                <a:ea typeface="Arial"/>
                <a:cs typeface="Arial"/>
                <a:sym typeface="Arial"/>
              </a:rPr>
              <a:t>THANK YOU</a:t>
            </a:r>
            <a:endParaRPr b="1" i="0" sz="3600" u="none" cap="none" strike="noStrike">
              <a:solidFill>
                <a:schemeClr val="accen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2026-05-28T14:05:21Z</dcterms:created>
  <dc:creator>Walnut Exporter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1033-12.1.0.26372</vt:lpwstr>
  </property>
  <property fmtid="{D5CDD505-2E9C-101B-9397-08002B2CF9AE}" pid="3" name="ICV">
    <vt:lpwstr>C1449A82BCFA4468927FF368829A9709_13</vt:lpwstr>
  </property>
</Properties>
</file>